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457200" cy="4572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INSURA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01168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WMIC Voice Agent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6D2DE"/>
                </a:solidFill>
                <a:latin typeface="Calibri"/>
              </a:rPr>
              <a:t>A live, talking insurance agent — available 24/7, on the phone,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BCCB"/>
                </a:solidFill>
                <a:latin typeface="Calibri"/>
              </a:rPr>
              <a:t>Try it now — call INSURA live: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3086100" cy="4800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62856"/>
            <a:ext cx="3086100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562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Executive demo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603504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CCB"/>
                </a:solidFill>
                <a:latin typeface="Calibri"/>
              </a:rPr>
              <a:t>Prepared by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NALASHAA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Every missed call is a missed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Insurance buying starts with a conversation — and most happen after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75304" cy="1554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75304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7E72"/>
                </a:solidFill>
                <a:latin typeface="Calibri"/>
              </a:rPr>
              <a:t>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77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of insurance calls come outside 9–5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432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when no agent is 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3" y="1463040"/>
            <a:ext cx="3575304" cy="1554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3" y="1463040"/>
            <a:ext cx="3575304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3" y="16916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7E72"/>
                </a:solidFill>
                <a:latin typeface="Calibri"/>
              </a:rPr>
              <a:t>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3" y="2377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to a quote range with INSURA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3" y="27432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vs. days of phone-tag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1463040"/>
            <a:ext cx="3575304" cy="1554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7" y="1463040"/>
            <a:ext cx="3575304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916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7E72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77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of calls answered, on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432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no hold music, no voicemail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66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The gap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Callers want answers immediately — a quote, a renewal date, a quick change. Live agents are expensive, inconsistent after hours, and impossible to staff 24/7.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INSURA closes that gap with a warm, compliant, always-on voice agent.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3892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E72"/>
                </a:solidFill>
                <a:latin typeface="Calibri"/>
              </a:rPr>
              <a:t>What you'll see in this demo  </a:t>
            </a:r>
            <a:r>
              <a:rPr sz="1300" b="0" i="0">
                <a:solidFill>
                  <a:srgbClr val="22303F"/>
                </a:solidFill>
                <a:latin typeface="Calibri"/>
              </a:rPr>
              <a:t>INSURA quoting real policies, looking up accounts securely, handling corrections and emotional moments, and escalating to your team — all on a phone call you can make right now.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The opportunity   · 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Meet INSURA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Wisconsin Mutual's AI voice assistant — one agent, four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4982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09728" cy="14173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91639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Quotes new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49469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Across 12 lines of business — personal and commercial — with an instant premium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08760"/>
            <a:ext cx="544982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508760"/>
            <a:ext cx="109728" cy="1417320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691639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Services existing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130552"/>
            <a:ext cx="49469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Looks up renewals, premiums and coverage; captures changes for your team to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544982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109728" cy="1417320"/>
          </a:xfrm>
          <a:prstGeom prst="rect">
            <a:avLst/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291840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Answers coverage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730752"/>
            <a:ext cx="49469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Explains how coverage works in plain language, from a governed knowledge 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108960"/>
            <a:ext cx="544982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108960"/>
            <a:ext cx="109728" cy="1417320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291840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libri"/>
              </a:rPr>
              <a:t>Knows when to hand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730752"/>
            <a:ext cx="49469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Verifies identity, spots complex or high-risk cases, and routes to a human callback.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Warm. Briefly witty. Always compliant.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INSURA matches each caller's tone, states it's an AI, and never guesses on price or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Meet INSURA   · 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What INSURA can do on a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642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64592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New-business quotes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6654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B7B"/>
                </a:solidFill>
                <a:latin typeface="Calibri"/>
              </a:rPr>
              <a:t>12 lines of business, personal + commercial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4630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07992" y="16642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46904" y="164592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Bundle &amp; save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06654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B7B"/>
                </a:solidFill>
                <a:latin typeface="Calibri"/>
              </a:rPr>
              <a:t>Multi-policy bundles with an applied discount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630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66176" y="16642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64592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Secure policy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06654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B7B"/>
                </a:solidFill>
                <a:latin typeface="Calibri"/>
              </a:rPr>
              <a:t>Identity-verified renewal, premium &amp;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346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30358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" y="301752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Policy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43814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B7B"/>
                </a:solidFill>
                <a:latin typeface="Calibri"/>
              </a:rPr>
              <a:t>Captures the change, routes to an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28346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07992" y="30358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301752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Coverage education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43814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B7B"/>
                </a:solidFill>
                <a:latin typeface="Calibri"/>
              </a:rPr>
              <a:t>Plain-language answers to 'how does X work?'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28346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66176" y="30358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5088" y="301752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Agent &amp; underwriter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343814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B7B"/>
                </a:solidFill>
                <a:latin typeface="Calibri"/>
              </a:rPr>
              <a:t>Verified agents query policy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062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4407407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19" y="438912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Empathy on hard 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80974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B7B"/>
                </a:solidFill>
                <a:latin typeface="Calibri"/>
              </a:rPr>
              <a:t>Detects distress, drops humour, gives 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6824" y="42062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07992" y="4407407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46904" y="438912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Human callback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80974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B7B"/>
                </a:solidFill>
                <a:latin typeface="Calibri"/>
              </a:rPr>
              <a:t>Schedules a prioritised callback on escalation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5008" y="4206240"/>
            <a:ext cx="3575304" cy="117043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4425696"/>
            <a:ext cx="3209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A896"/>
                </a:solidFill>
                <a:latin typeface="Calibri"/>
              </a:rPr>
              <a:t>Hear it yourself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6176" y="4864607"/>
            <a:ext cx="2271369" cy="35332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6176" y="4855464"/>
            <a:ext cx="2271369" cy="353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Capabilities   · 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Try the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00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D2DE"/>
                </a:solidFill>
                <a:latin typeface="Calibri"/>
              </a:rPr>
              <a:t>Call INSURA from any phone and run the scenarios on the next 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A896"/>
                </a:solidFill>
                <a:latin typeface="Calibri"/>
              </a:rPr>
              <a:t>Dial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850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6850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Call 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959352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EBCCB"/>
                </a:solidFill>
                <a:latin typeface="Calibri"/>
              </a:rPr>
              <a:t>From any phone — INSURA answers as Wisconsin Mutual.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799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616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3616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Pick a 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636008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EBCCB"/>
                </a:solidFill>
                <a:latin typeface="Calibri"/>
              </a:rPr>
              <a:t>Use the 'try saying' line on each demo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56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383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3834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Watch the magic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12664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EBCCB"/>
                </a:solidFill>
                <a:latin typeface="Calibri"/>
              </a:rPr>
              <a:t>Quotes, lookups, empathy, escalation — live.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7332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15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715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Check the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989320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EBCCB"/>
                </a:solidFill>
                <a:latin typeface="Calibri"/>
              </a:rPr>
              <a:t>A draft summary email arrives moments later.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286000"/>
            <a:ext cx="4873752" cy="109728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286000"/>
            <a:ext cx="487375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Tip — speak naturally.
INSURA handles interruptions, spelling and small talk.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Live demo   · 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Calibri"/>
              </a:rPr>
              <a:t>New small-business quote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502920"/>
            <a:ext cx="2286000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489204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NEW QUOTE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9A6"/>
                </a:solidFill>
                <a:latin typeface="Calibri"/>
              </a:rPr>
              <a:t>Demo scenario 1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TRY SAYING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“I just opened a bakery and I need to get it insured.”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E7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050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A real, end-to-end quote — not a chatbot 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000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Needs-analysis recommends the right product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39495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34009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Premium range in one call, any hour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417320"/>
            <a:ext cx="5650992" cy="4343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WHAT INSURA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933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Greets, states it's an AI, asks one warm rapport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786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5603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78608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Classifies intent as a new quote and gathers a quick 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4553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127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45536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Recommends a Business Owner's Policy and runs BOP intake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1246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6941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12464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Scores risk silently and delivers a premium range in seconds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79392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2611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279392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Reads everything back, then emails a draft summary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138928"/>
            <a:ext cx="2024481" cy="314919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129784"/>
            <a:ext cx="2024481" cy="31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025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Demo 1/6   · 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Calibri"/>
              </a:rPr>
              <a:t>Bundle &amp; save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502920"/>
            <a:ext cx="2286000" cy="246888"/>
          </a:xfrm>
          <a:prstGeom prst="roundRect">
            <a:avLst>
              <a:gd name="adj" fmla="val 5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489204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BUNDLE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9A6"/>
                </a:solidFill>
                <a:latin typeface="Calibri"/>
              </a:rPr>
              <a:t>Demo scenario 2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TRY SAYING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“I need to cover my house and my car — can you do both?”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E7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050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Higher value per call — cross-sell built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000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Customer hears the savings instantly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0657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Consistent bundling logic every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417320"/>
            <a:ext cx="5650992" cy="4343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WHAT INSURA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933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Detects a multi-policy need and offers to bundle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786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5603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78608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Works through Homeowners, then Personal Auto, one at a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4553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127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45536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Applies a bundle discount to the combined range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1246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6941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12464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Confirms the savings and emails the summary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138928"/>
            <a:ext cx="2024481" cy="314919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129784"/>
            <a:ext cx="2024481" cy="31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025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Demo 2/6   · 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Calibri"/>
              </a:rPr>
              <a:t>Secure policy lookup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502920"/>
            <a:ext cx="2286000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489204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SERVICING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9A6"/>
                </a:solidFill>
                <a:latin typeface="Calibri"/>
              </a:rPr>
              <a:t>Demo scenario 3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TRY SAYING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“When does my policy renew, and how much is my premium?”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E7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050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Self-service that respects privacy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42569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37083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Identity verified before any data is shared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0657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Cuts routine calls to your service 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417320"/>
            <a:ext cx="5650992" cy="4343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WHAT INSURA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933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Recognises a request about the caller's own 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786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5603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78608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Verifies identity — policy number + last-4 phone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4553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127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45536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Reads back renewal date, premium and status — that policy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1246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6941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12464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Logs the lookup; offers a change or a callback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138928"/>
            <a:ext cx="2024481" cy="314919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129784"/>
            <a:ext cx="2024481" cy="31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025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Demo 3/6   · 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Calibri"/>
              </a:rPr>
              <a:t>Mid-call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502920"/>
            <a:ext cx="2286000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489204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9A6"/>
                </a:solidFill>
                <a:latin typeface="Calibri"/>
              </a:rPr>
              <a:t>Demo scenario 4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TRY SAYING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“Wait — that email is wrong, it's spelled with two L's.”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E7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050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Data integrity before anything is submitted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000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No 'start over' frustration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0657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Clean records flow to your 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417320"/>
            <a:ext cx="5650992" cy="4343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WHAT INSURA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933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Catches the correction without losing its place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786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5603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78608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Re-confirms the corrected detail back to the caller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4553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127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45536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Routes straight back to the exact step that owns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1246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6941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12464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Re-validates the full summary before continuing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138928"/>
            <a:ext cx="2024481" cy="314919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129784"/>
            <a:ext cx="2024481" cy="31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025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Demo 4/6   · 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Calibri"/>
              </a:rPr>
              <a:t>An empathetic moment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502920"/>
            <a:ext cx="2286000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489204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9A6"/>
                </a:solidFill>
                <a:latin typeface="Calibri"/>
              </a:rPr>
              <a:t>Demo scenario 5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TRY SAYING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“Sorry, I'm a bit shaken — we just had a house fire.”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E7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050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Protects your brand in sensitive moments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000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Empathy is designed in, not optional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0657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The difference between a bot and an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417320"/>
            <a:ext cx="5650992" cy="4343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WHAT INSURA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933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 interceptor fires — in any part of the 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786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5603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78608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Drops all humour, acknowledges sincerely, gives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4553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127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45536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Lets the caller lead, then gently resumes when ready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1246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6941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12464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Keeps the tone human through a hard conversation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138928"/>
            <a:ext cx="2024481" cy="314919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129784"/>
            <a:ext cx="2024481" cy="31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025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Demo 5/6   · 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A4A"/>
                </a:solidFill>
                <a:latin typeface="Calibri"/>
              </a:rPr>
              <a:t>Knowing when to escalate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502920"/>
            <a:ext cx="2286000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489204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9A6"/>
                </a:solidFill>
                <a:latin typeface="Calibri"/>
              </a:rPr>
              <a:t>Demo scenario 6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TRY SAYING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“This is a complex claim situation — it's pretty unusual.”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E7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050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AI handles routine; humans handle nuance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000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High-risk cases never slip 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0657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Your experts get full context up front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417320"/>
            <a:ext cx="5650992" cy="4343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WHAT INSURA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933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Recognises the request is beyond its 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78608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5603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78608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Flags high-risk / complex cases automatically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4553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127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45536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Captures callback name, time, priority and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12464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6941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12464"/>
            <a:ext cx="4800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Sends a prioritised alert to your underwriting team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138928"/>
            <a:ext cx="2024481" cy="314919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129784"/>
            <a:ext cx="2024481" cy="31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025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Demo 6/6   · 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Built to be trusted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An insurance-grade voice agent — safety designed into every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575304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64792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Tells callers it's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58568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Disclosure up front — no pretending to be human.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508760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508760"/>
            <a:ext cx="3575304" cy="91440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Verifies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58568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Policy number + phone (or agent code) before any policy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508760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508760"/>
            <a:ext cx="3575304" cy="91440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764792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Never guesses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258568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No binding, legal or coverage guarantees — ranges, not promises.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27248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27248"/>
            <a:ext cx="3575304" cy="91440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383280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Knows its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877056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Out-of-scope and high-risk cases route to your team.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3127248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6824" y="3127248"/>
            <a:ext cx="3575304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383280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Protects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877056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PII redaction, governed storage, own-policy-only lookups.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3127248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8" y="3127248"/>
            <a:ext cx="3575304" cy="91440"/>
          </a:xfrm>
          <a:prstGeom prst="rect">
            <a:avLst/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383280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Fully auditable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877056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Every quote, lookup, change and inquiry logged as an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Trust   · 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What happens after 'goodbye'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Every call drives action in WMIC systems —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Call 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3840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A99A6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5544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55448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Draft summary composed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554480"/>
            <a:ext cx="3840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A99A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5544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55448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Email to 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1554480"/>
            <a:ext cx="3840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A99A6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5544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Event to WMIC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1460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8 backend events keep your team in the loop: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9144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054096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New quote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346704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Draft + full payload after a quote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292608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6824" y="2926080"/>
            <a:ext cx="9144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054096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Policy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346704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Change request for an agent to 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292608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8" y="2926080"/>
            <a:ext cx="9144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054096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High-risk 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346704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Senior underwriting notified immediately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59352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959352"/>
            <a:ext cx="9144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087368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Callback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379976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Prioritised, with full context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6824" y="3959352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06824" y="3959352"/>
            <a:ext cx="9144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4087368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Customer lookup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379976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Self-service lookups logged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3959352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5008" y="3959352"/>
            <a:ext cx="91440" cy="8686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4087368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Expired pivot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4379976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Lapsed customers re-quoted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The takeaway 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INSURA doesn't just talk — it captures structured data and triggers the right workflow, so nothing falls through the cracks.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Behind the scenes   · 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Live-demo script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Keep this handy on the call — six things to 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1672" cy="329184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5448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Say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You'll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38528"/>
            <a:ext cx="11091672" cy="5852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E72"/>
                </a:solidFill>
                <a:latin typeface="Calibri"/>
              </a:rPr>
              <a:t>New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38528"/>
            <a:ext cx="53949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22303F"/>
                </a:solidFill>
                <a:latin typeface="Calibri"/>
              </a:rPr>
              <a:t>“I just opened a bakery and need insurance.”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38528"/>
            <a:ext cx="3200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End-to-end quote + emailed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109167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E72"/>
                </a:solidFill>
                <a:latin typeface="Calibri"/>
              </a:rPr>
              <a:t>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560320"/>
            <a:ext cx="53949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22303F"/>
                </a:solidFill>
                <a:latin typeface="Calibri"/>
              </a:rPr>
              <a:t>“I need to cover my house and my car.”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3200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Bundling + applied discount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82112"/>
            <a:ext cx="11091672" cy="5852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82112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E72"/>
                </a:solidFill>
                <a:latin typeface="Calibri"/>
              </a:rPr>
              <a:t>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182112"/>
            <a:ext cx="53949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22303F"/>
                </a:solidFill>
                <a:latin typeface="Calibri"/>
              </a:rPr>
              <a:t>“When does my policy renew?”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82112"/>
            <a:ext cx="3200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Identity check, then secure read-back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03904"/>
            <a:ext cx="1109167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03904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E72"/>
                </a:solidFill>
                <a:latin typeface="Calibri"/>
              </a:rPr>
              <a:t>Correction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803904"/>
            <a:ext cx="53949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22303F"/>
                </a:solidFill>
                <a:latin typeface="Calibri"/>
              </a:rPr>
              <a:t>“That email's wrong — two L's.”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03904"/>
            <a:ext cx="3200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Re-validates without starting 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25696"/>
            <a:ext cx="11091672" cy="5852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25696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E72"/>
                </a:solidFill>
                <a:latin typeface="Calibri"/>
              </a:rPr>
              <a:t>Empathy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425696"/>
            <a:ext cx="53949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22303F"/>
                </a:solidFill>
                <a:latin typeface="Calibri"/>
              </a:rPr>
              <a:t>“Sorry, we just had a house fire.”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25696"/>
            <a:ext cx="3200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Tone shifts, humour drops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47488"/>
            <a:ext cx="1109167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47488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E72"/>
                </a:solidFill>
                <a:latin typeface="Calibri"/>
              </a:rPr>
              <a:t>Escalate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047488"/>
            <a:ext cx="53949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22303F"/>
                </a:solidFill>
                <a:latin typeface="Calibri"/>
              </a:rPr>
              <a:t>“This is a complex claim situation.”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047488"/>
            <a:ext cx="3200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Captures callback, alerts your team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436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934456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96188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Calibri"/>
              </a:rPr>
              <a:t>Call from any phone — speak naturally, interrupt freely.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Demo script   · 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Don't take our word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6D2DE"/>
                </a:solidFill>
                <a:latin typeface="Calibri"/>
              </a:rPr>
              <a:t>Call INSURA and have the conversation yourself.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06240"/>
            <a:ext cx="3209544" cy="49926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97096"/>
            <a:ext cx="3209544" cy="499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Calibri"/>
              </a:rPr>
              <a:t>☎  </a:t>
            </a:r>
            <a:r>
              <a:rPr sz="1625" b="1" i="0">
                <a:solidFill>
                  <a:srgbClr val="FFFFFF"/>
                </a:solidFill>
                <a:latin typeface="Calibri"/>
              </a:rPr>
              <a:t>+1 (608) 909-8592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NALASHAA</a:t>
            </a:r>
            <a:r>
              <a:rPr sz="1200" b="0" i="0">
                <a:solidFill>
                  <a:srgbClr val="8A99A6"/>
                </a:solidFill>
                <a:latin typeface="Calibri"/>
              </a:rPr>
              <a:t>   ·   Voice AI for insurance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