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457200" cy="4572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A896"/>
                </a:solidFill>
                <a:latin typeface="Calibri"/>
              </a:rPr>
              <a:t>INSURA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965960"/>
            <a:ext cx="10789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FFFFFF"/>
                </a:solidFill>
                <a:latin typeface="Calibri"/>
              </a:rPr>
              <a:t>WMIC Voice Agent 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6D2DE"/>
                </a:solidFill>
                <a:latin typeface="Calibri"/>
              </a:rPr>
              <a:t>Conversation-flow architecture · node-by-node reference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160520"/>
            <a:ext cx="10561320" cy="10972"/>
          </a:xfrm>
          <a:prstGeom prst="rect">
            <a:avLst/>
          </a:prstGeom>
          <a:solidFill>
            <a:srgbClr val="3A4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43484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A896"/>
                </a:solidFill>
                <a:latin typeface="Calibri"/>
              </a:rPr>
              <a:t>72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956048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EBCCB"/>
                </a:solidFill>
                <a:latin typeface="Calibri"/>
              </a:rPr>
              <a:t>nodes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44368" y="443484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A896"/>
                </a:solidFill>
                <a:latin typeface="Calibri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4368" y="4956048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EBCCB"/>
                </a:solidFill>
                <a:latin typeface="Calibri"/>
              </a:rPr>
              <a:t>lines of business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65775" y="443484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A896"/>
                </a:solidFill>
                <a:latin typeface="Calibri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65775" y="4956048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EBCCB"/>
                </a:solidFill>
                <a:latin typeface="Calibri"/>
              </a:rPr>
              <a:t>backend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87183" y="443484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A896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87183" y="4956048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EBCCB"/>
                </a:solidFill>
                <a:latin typeface="Calibri"/>
              </a:rPr>
              <a:t>caller journeys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08592" y="443484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A896"/>
                </a:solidFill>
                <a:latin typeface="Calibri"/>
              </a:rPr>
              <a:t>GPT-5.1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08592" y="4956048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EBCCB"/>
                </a:solidFill>
                <a:latin typeface="Calibri"/>
              </a:rPr>
              <a:t>reasoning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EBCCB"/>
                </a:solidFill>
                <a:latin typeface="Calibri"/>
              </a:rPr>
              <a:t>Wisconsin Mutual Insurance Company  ·  Retell AI voice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5989320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EBCCB"/>
                </a:solidFill>
                <a:latin typeface="Calibri"/>
              </a:rPr>
              <a:t>Prepared by </a:t>
            </a:r>
            <a:r>
              <a:rPr sz="1300" b="1" i="0">
                <a:solidFill>
                  <a:srgbClr val="FFFFFF"/>
                </a:solidFill>
                <a:latin typeface="Calibri"/>
              </a:rPr>
              <a:t>NALASHAA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6263640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146304" cy="38404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20624"/>
            <a:ext cx="9509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2A4A"/>
                </a:solidFill>
                <a:latin typeface="Calibri"/>
              </a:rPr>
              <a:t>How to read this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932688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B7B"/>
                </a:solidFill>
                <a:latin typeface="Calibri"/>
              </a:rPr>
              <a:t>Each of the 72 Retell nodes has a dedicated page, grouped into 14 functional phases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2834640" cy="868680"/>
          </a:xfrm>
          <a:prstGeom prst="roundRect">
            <a:avLst>
              <a:gd name="adj" fmla="val 8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91056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CONVERSATION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83664"/>
            <a:ext cx="2560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FECEA"/>
                </a:solidFill>
                <a:latin typeface="Calibri"/>
              </a:rPr>
              <a:t>node 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1499616"/>
            <a:ext cx="80467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303F"/>
                </a:solidFill>
                <a:latin typeface="Calibri"/>
              </a:rPr>
              <a:t>Speaks to the caller. Shows purpose, behaviour, what INSURA says, and the exit.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87168"/>
            <a:ext cx="2834640" cy="868680"/>
          </a:xfrm>
          <a:prstGeom prst="roundRect">
            <a:avLst>
              <a:gd name="adj" fmla="val 8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615184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VARIABLE EXTRACTION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907792"/>
            <a:ext cx="2560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FECEA"/>
                </a:solidFill>
                <a:latin typeface="Calibri"/>
              </a:rPr>
              <a:t>node 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523744"/>
            <a:ext cx="80467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303F"/>
                </a:solidFill>
                <a:latin typeface="Calibri"/>
              </a:rPr>
              <a:t>Silently captures structured variables from the exchange and routes the call.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511296"/>
            <a:ext cx="2834640" cy="868680"/>
          </a:xfrm>
          <a:prstGeom prst="roundRect">
            <a:avLst>
              <a:gd name="adj" fmla="val 8000"/>
            </a:avLst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639312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BACKEND FUNCTION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931920"/>
            <a:ext cx="2560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FECEA"/>
                </a:solidFill>
                <a:latin typeface="Calibri"/>
              </a:rPr>
              <a:t>node 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3547872"/>
            <a:ext cx="80467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303F"/>
                </a:solidFill>
                <a:latin typeface="Calibri"/>
              </a:rPr>
              <a:t>Fires a tool — sends an email or logs an event to WMIC systems.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535424"/>
            <a:ext cx="2834640" cy="868680"/>
          </a:xfrm>
          <a:prstGeom prst="roundRect">
            <a:avLst>
              <a:gd name="adj" fmla="val 8000"/>
            </a:avLst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466344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TERMINAL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4956048"/>
            <a:ext cx="2560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FECEA"/>
                </a:solidFill>
                <a:latin typeface="Calibri"/>
              </a:rPr>
              <a:t>node 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4572000"/>
            <a:ext cx="80467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303F"/>
                </a:solidFill>
                <a:latin typeface="Calibri"/>
              </a:rPr>
              <a:t>Ends the call after a closing or escalation completes.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715000"/>
            <a:ext cx="11091672" cy="713232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815584"/>
            <a:ext cx="10972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B2A4A"/>
                </a:solidFill>
                <a:latin typeface="Calibri"/>
              </a:rPr>
              <a:t>Reading a page  </a:t>
            </a:r>
            <a:r>
              <a:rPr sz="1200" b="0" i="0">
                <a:solidFill>
                  <a:srgbClr val="22303F"/>
                </a:solidFill>
                <a:latin typeface="Calibri"/>
              </a:rPr>
              <a:t>— left panel = what the node does &amp; its logic;  right panels = variables captured, what INSURA says, and routing/exits.  </a:t>
            </a:r>
            <a:r>
              <a:rPr sz="1100" b="1" i="0">
                <a:solidFill>
                  <a:srgbClr val="D98A2B"/>
                </a:solidFill>
                <a:latin typeface="Calibri"/>
              </a:rPr>
              <a:t>⟶ ROUTER</a:t>
            </a:r>
            <a:r>
              <a:rPr sz="1200" b="0" i="0">
                <a:solidFill>
                  <a:srgbClr val="22303F"/>
                </a:solidFill>
                <a:latin typeface="Calibri"/>
              </a:rPr>
              <a:t>  marks the decision nodes that branch the call.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Overview   ·   2/98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146304" cy="38404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20624"/>
            <a:ext cx="9509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2A4A"/>
                </a:solidFill>
                <a:latin typeface="Calibri"/>
              </a:rPr>
              <a:t>Solution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932688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B7B"/>
                </a:solidFill>
                <a:latin typeface="Calibri"/>
              </a:rPr>
              <a:t>One agent, four caller journeys, twelve lines of business — with global guardrails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11091672" cy="365760"/>
          </a:xfrm>
          <a:prstGeom prst="roundRect">
            <a:avLst>
              <a:gd name="adj" fmla="val 18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9167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GLOBAL  ·  Persona  ·  Empathy interceptor  ·  Casual-chat handler  ·  AI disclosure &amp; compliance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10512"/>
            <a:ext cx="3291840" cy="420624"/>
          </a:xfrm>
          <a:prstGeom prst="roundRect">
            <a:avLst>
              <a:gd name="adj" fmla="val 12000"/>
            </a:avLst>
          </a:prstGeom>
          <a:solidFill>
            <a:srgbClr val="007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10512"/>
            <a:ext cx="32918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Greeting   ›   Rapport   ›   Intent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1810512"/>
            <a:ext cx="3657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A99A6"/>
                </a:solidFill>
                <a:latin typeface="Calibri"/>
              </a:rPr>
              <a:t>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792224"/>
            <a:ext cx="7315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5B6B7B"/>
                </a:solidFill>
                <a:latin typeface="Calibri"/>
              </a:rPr>
              <a:t>classifies intent into four journeys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542032"/>
            <a:ext cx="2450592" cy="384048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42032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NEW QUOTE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2542032"/>
            <a:ext cx="2450592" cy="384048"/>
          </a:xfrm>
          <a:prstGeom prst="roundRect">
            <a:avLst>
              <a:gd name="adj" fmla="val 12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2542032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UPDATE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542032"/>
            <a:ext cx="2450592" cy="384048"/>
          </a:xfrm>
          <a:prstGeom prst="roundRect">
            <a:avLst>
              <a:gd name="adj" fmla="val 12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542032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LOOKUP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2542032"/>
            <a:ext cx="2450592" cy="384048"/>
          </a:xfrm>
          <a:prstGeom prst="roundRect">
            <a:avLst>
              <a:gd name="adj" fmla="val 12000"/>
            </a:avLst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2542032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108960"/>
            <a:ext cx="2450592" cy="36576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108960"/>
            <a:ext cx="245059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B2A4A"/>
                </a:solidFill>
                <a:latin typeface="Calibri"/>
              </a:rPr>
              <a:t>Profile  +  Eligibility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543300"/>
            <a:ext cx="2450592" cy="365760"/>
          </a:xfrm>
          <a:prstGeom prst="roundRect">
            <a:avLst>
              <a:gd name="adj" fmla="val 12000"/>
            </a:avLst>
          </a:prstGeom>
          <a:solidFill>
            <a:srgbClr val="EAF0F3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543300"/>
            <a:ext cx="245059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B2A4A"/>
                </a:solidFill>
                <a:latin typeface="Calibri"/>
              </a:rPr>
              <a:t>Needs Analysis  +  Router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977639"/>
            <a:ext cx="2450592" cy="36576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977639"/>
            <a:ext cx="245059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B2A4A"/>
                </a:solidFill>
                <a:latin typeface="Calibri"/>
              </a:rPr>
              <a:t>Contact Capture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411979"/>
            <a:ext cx="2450592" cy="365760"/>
          </a:xfrm>
          <a:prstGeom prst="roundRect">
            <a:avLst>
              <a:gd name="adj" fmla="val 12000"/>
            </a:avLst>
          </a:prstGeom>
          <a:solidFill>
            <a:srgbClr val="EAF0F3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411979"/>
            <a:ext cx="245059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B2A4A"/>
                </a:solidFill>
                <a:latin typeface="Calibri"/>
              </a:rPr>
              <a:t>12 LOB Intakes  +  Bundle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846319"/>
            <a:ext cx="2450592" cy="36576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846319"/>
            <a:ext cx="245059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B2A4A"/>
                </a:solidFill>
                <a:latin typeface="Calibri"/>
              </a:rPr>
              <a:t>Risk Scoring  +  Quote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280659"/>
            <a:ext cx="2450592" cy="365760"/>
          </a:xfrm>
          <a:prstGeom prst="roundRect">
            <a:avLst>
              <a:gd name="adj" fmla="val 12000"/>
            </a:avLst>
          </a:prstGeom>
          <a:solidFill>
            <a:srgbClr val="EAF0F3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280659"/>
            <a:ext cx="245059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B2A4A"/>
                </a:solidFill>
                <a:latin typeface="Calibri"/>
              </a:rPr>
              <a:t>Validate  ›  Draft  ›  Email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29000" y="3108960"/>
            <a:ext cx="2450592" cy="310896"/>
          </a:xfrm>
          <a:prstGeom prst="roundRect">
            <a:avLst>
              <a:gd name="adj" fmla="val 12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29000" y="3108960"/>
            <a:ext cx="245059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servicing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29000" y="3566160"/>
            <a:ext cx="2450592" cy="384048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29000" y="3566160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B2A4A"/>
                </a:solidFill>
                <a:latin typeface="Calibri"/>
              </a:rPr>
              <a:t>Authenticate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29000" y="4023360"/>
            <a:ext cx="2450592" cy="384048"/>
          </a:xfrm>
          <a:prstGeom prst="roundRect">
            <a:avLst>
              <a:gd name="adj" fmla="val 12000"/>
            </a:avLst>
          </a:prstGeom>
          <a:solidFill>
            <a:srgbClr val="EAF0F3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29000" y="4023360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B2A4A"/>
                </a:solidFill>
                <a:latin typeface="Calibri"/>
              </a:rPr>
              <a:t>Capture change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29000" y="4480560"/>
            <a:ext cx="2450592" cy="384048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29000" y="4480560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B2A4A"/>
                </a:solidFill>
                <a:latin typeface="Calibri"/>
              </a:rPr>
              <a:t>→ update event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09360" y="3108960"/>
            <a:ext cx="2450592" cy="310896"/>
          </a:xfrm>
          <a:prstGeom prst="roundRect">
            <a:avLst>
              <a:gd name="adj" fmla="val 12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0" y="3108960"/>
            <a:ext cx="245059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read-only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09360" y="3566160"/>
            <a:ext cx="2450592" cy="384048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3566160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B2A4A"/>
                </a:solidFill>
                <a:latin typeface="Calibri"/>
              </a:rPr>
              <a:t>Authenticate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09360" y="4023360"/>
            <a:ext cx="2450592" cy="384048"/>
          </a:xfrm>
          <a:prstGeom prst="roundRect">
            <a:avLst>
              <a:gd name="adj" fmla="val 12000"/>
            </a:avLst>
          </a:prstGeom>
          <a:solidFill>
            <a:srgbClr val="EAF0F3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0" y="4023360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B2A4A"/>
                </a:solidFill>
                <a:latin typeface="Calibri"/>
              </a:rPr>
              <a:t>Policy lookup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09360" y="4480560"/>
            <a:ext cx="2450592" cy="384048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60" y="4480560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B2A4A"/>
                </a:solidFill>
                <a:latin typeface="Calibri"/>
              </a:rPr>
              <a:t>Expired → pivot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189720" y="3108960"/>
            <a:ext cx="2450592" cy="310896"/>
          </a:xfrm>
          <a:prstGeom prst="roundRect">
            <a:avLst>
              <a:gd name="adj" fmla="val 12000"/>
            </a:avLst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89720" y="3108960"/>
            <a:ext cx="245059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education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189720" y="3566160"/>
            <a:ext cx="2450592" cy="384048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89720" y="3566160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B2A4A"/>
                </a:solidFill>
                <a:latin typeface="Calibri"/>
              </a:rPr>
              <a:t>Agent / UW support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189720" y="4023360"/>
            <a:ext cx="2450592" cy="384048"/>
          </a:xfrm>
          <a:prstGeom prst="roundRect">
            <a:avLst>
              <a:gd name="adj" fmla="val 12000"/>
            </a:avLst>
          </a:prstGeom>
          <a:solidFill>
            <a:srgbClr val="EAF0F3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89720" y="4023360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B2A4A"/>
                </a:solidFill>
                <a:latin typeface="Calibri"/>
              </a:rPr>
              <a:t>Answer from KB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189720" y="4480560"/>
            <a:ext cx="2450592" cy="384048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89720" y="4480560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B2A4A"/>
                </a:solidFill>
                <a:latin typeface="Calibri"/>
              </a:rPr>
              <a:t>→ quote or close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8640" y="5797296"/>
            <a:ext cx="5760720" cy="402336"/>
          </a:xfrm>
          <a:prstGeom prst="roundRect">
            <a:avLst>
              <a:gd name="adj" fmla="val 12000"/>
            </a:avLst>
          </a:prstGeom>
          <a:solidFill>
            <a:srgbClr val="007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" y="5797296"/>
            <a:ext cx="57607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Close Call  ·  5 variants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46520" y="5797296"/>
            <a:ext cx="5193792" cy="402336"/>
          </a:xfrm>
          <a:prstGeom prst="roundRect">
            <a:avLst>
              <a:gd name="adj" fmla="val 12000"/>
            </a:avLst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46520" y="5797296"/>
            <a:ext cx="519379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Escalation  →  human callback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48640" y="6272784"/>
            <a:ext cx="11091672" cy="274320"/>
          </a:xfrm>
          <a:prstGeom prst="roundRect">
            <a:avLst>
              <a:gd name="adj" fmla="val 16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8640" y="6272784"/>
            <a:ext cx="110916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A896"/>
                </a:solidFill>
                <a:latin typeface="Calibri"/>
              </a:rPr>
              <a:t>BACKEND  </a:t>
            </a:r>
            <a:r>
              <a:rPr sz="950" b="0" i="0">
                <a:solidFill>
                  <a:srgbClr val="FFFFFF"/>
                </a:solidFill>
                <a:latin typeface="Calibri"/>
              </a:rPr>
              <a:t>8 event tools fire emails &amp; logs — new quote · update · lookup · callback · high-risk alert · expired pivot · agent inquiry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Overview   ·   3/98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146304" cy="38404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20624"/>
            <a:ext cx="9509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2A4A"/>
                </a:solidFill>
                <a:latin typeface="Calibri"/>
              </a:rPr>
              <a:t>Conversation design at a glance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575304" cy="13716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109728" cy="13716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609344"/>
            <a:ext cx="32095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0A896"/>
                </a:solidFill>
                <a:latin typeface="Calibri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249424"/>
            <a:ext cx="31181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Conversation nodes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505456"/>
            <a:ext cx="31181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B"/>
                </a:solidFill>
                <a:latin typeface="Calibri"/>
              </a:rPr>
              <a:t>Speak to the caller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1463040"/>
            <a:ext cx="3575304" cy="13716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06824" y="1463040"/>
            <a:ext cx="109728" cy="1371600"/>
          </a:xfrm>
          <a:prstGeom prst="rect">
            <a:avLst/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609344"/>
            <a:ext cx="32095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4375C"/>
                </a:solidFill>
                <a:latin typeface="Calibri"/>
              </a:rPr>
              <a:t>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249424"/>
            <a:ext cx="31181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Extraction nodes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505456"/>
            <a:ext cx="31181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B"/>
                </a:solidFill>
                <a:latin typeface="Calibri"/>
              </a:rPr>
              <a:t>Capture &amp; route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1463040"/>
            <a:ext cx="3575304" cy="13716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1463040"/>
            <a:ext cx="109728" cy="1371600"/>
          </a:xfrm>
          <a:prstGeom prst="rect">
            <a:avLst/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7616" y="1609344"/>
            <a:ext cx="32095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D98A2B"/>
                </a:solidFill>
                <a:latin typeface="Calibri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904" y="2249424"/>
            <a:ext cx="31181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Function nodes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2505456"/>
            <a:ext cx="31181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B"/>
                </a:solidFill>
                <a:latin typeface="Calibri"/>
              </a:rPr>
              <a:t>Fire backend events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063240"/>
            <a:ext cx="3575304" cy="13716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063240"/>
            <a:ext cx="109728" cy="1371600"/>
          </a:xfrm>
          <a:prstGeom prst="rect">
            <a:avLst/>
          </a:prstGeom>
          <a:solidFill>
            <a:srgbClr val="007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209544"/>
            <a:ext cx="32095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07E72"/>
                </a:solidFill>
                <a:latin typeface="Calibri"/>
              </a:rPr>
              <a:t>~150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3849624"/>
            <a:ext cx="31181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Variables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4105656"/>
            <a:ext cx="31181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B"/>
                </a:solidFill>
                <a:latin typeface="Calibri"/>
              </a:rPr>
              <a:t>Structured data captured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06824" y="3063240"/>
            <a:ext cx="3575304" cy="13716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06824" y="3063240"/>
            <a:ext cx="109728" cy="13716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9432" y="3209544"/>
            <a:ext cx="32095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B2A4A"/>
                </a:solidFill>
                <a:latin typeface="Calibri"/>
              </a:rP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3849624"/>
            <a:ext cx="31181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Lines of business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4105656"/>
            <a:ext cx="31181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B"/>
                </a:solidFill>
                <a:latin typeface="Calibri"/>
              </a:rPr>
              <a:t>Personal + commercial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65008" y="3063240"/>
            <a:ext cx="3575304" cy="13716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65008" y="3063240"/>
            <a:ext cx="109728" cy="1371600"/>
          </a:xfrm>
          <a:prstGeom prst="rect">
            <a:avLst/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57616" y="3209544"/>
            <a:ext cx="32095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D98A2B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75904" y="3849624"/>
            <a:ext cx="31181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Decision routers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75904" y="4105656"/>
            <a:ext cx="31181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B"/>
                </a:solidFill>
                <a:latin typeface="Calibri"/>
              </a:rPr>
              <a:t>Branch the journey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806440"/>
            <a:ext cx="11091672" cy="640080"/>
          </a:xfrm>
          <a:prstGeom prst="roundRect">
            <a:avLst>
              <a:gd name="adj" fmla="val 6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907024"/>
            <a:ext cx="10972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7E72"/>
                </a:solidFill>
                <a:latin typeface="Calibri"/>
              </a:rPr>
              <a:t>Design principle  </a:t>
            </a:r>
            <a:r>
              <a:rPr sz="1200" b="0" i="0">
                <a:solidFill>
                  <a:srgbClr val="22303F"/>
                </a:solidFill>
                <a:latin typeface="Calibri"/>
              </a:rPr>
              <a:t>Every speaking node is paired with a silent extraction node — INSURA confirms what it heard, captures it as structured data, then routes. Logic and language stay cleanly separated.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Overview   ·   4/98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146304" cy="38404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20624"/>
            <a:ext cx="9509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2A4A"/>
                </a:solidFill>
                <a:latin typeface="Calibri"/>
              </a:rPr>
              <a:t>INSURA — persona &amp; voice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932688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B7B"/>
                </a:solidFill>
                <a:latin typeface="Calibri"/>
              </a:rPr>
              <a:t>Global prompt injected into every node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394960" cy="38404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417320"/>
            <a:ext cx="52120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Personality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984248"/>
            <a:ext cx="91440" cy="9144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2024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303F"/>
                </a:solidFill>
                <a:latin typeface="Calibri"/>
              </a:rPr>
              <a:t>Warm, not gushing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368296"/>
            <a:ext cx="91440" cy="9144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30428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303F"/>
                </a:solidFill>
                <a:latin typeface="Calibri"/>
              </a:rPr>
              <a:t>Briefly witty — never forced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752344"/>
            <a:ext cx="91440" cy="9144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68833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303F"/>
                </a:solidFill>
                <a:latin typeface="Calibri"/>
              </a:rPr>
              <a:t>Confident, not cocky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136391"/>
            <a:ext cx="91440" cy="9144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07238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303F"/>
                </a:solidFill>
                <a:latin typeface="Calibri"/>
              </a:rPr>
              <a:t>Economical — Midwestern brevity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85031"/>
            <a:ext cx="5394960" cy="38404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685031"/>
            <a:ext cx="52120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Tone-matching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251959"/>
            <a:ext cx="91440" cy="9144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4187951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303F"/>
                </a:solidFill>
                <a:latin typeface="Calibri"/>
              </a:rPr>
              <a:t>Businesslike caller → brisk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636007"/>
            <a:ext cx="91440" cy="9144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4571999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303F"/>
                </a:solidFill>
                <a:latin typeface="Calibri"/>
              </a:rPr>
              <a:t>Chatty caller → warm asides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5020055"/>
            <a:ext cx="91440" cy="9144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4956047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303F"/>
                </a:solidFill>
                <a:latin typeface="Calibri"/>
              </a:rPr>
              <a:t>Stressed → drop humour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5404103"/>
            <a:ext cx="91440" cy="9144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5340095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303F"/>
                </a:solidFill>
                <a:latin typeface="Calibri"/>
              </a:rPr>
              <a:t>Hardship → empathy, no humour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45352" y="1417320"/>
            <a:ext cx="5394960" cy="38404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9944" y="1417320"/>
            <a:ext cx="52120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Humour guardrails (never joke about)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91072" y="1984248"/>
            <a:ext cx="91440" cy="9144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01384" y="192024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303F"/>
                </a:solidFill>
                <a:latin typeface="Calibri"/>
              </a:rPr>
              <a:t>Claims, losses or covered events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91072" y="2368296"/>
            <a:ext cx="91440" cy="9144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01384" y="230428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303F"/>
                </a:solidFill>
                <a:latin typeface="Calibri"/>
              </a:rPr>
              <a:t>Pricing, premiums, cost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91072" y="2752344"/>
            <a:ext cx="91440" cy="9144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01384" y="268833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303F"/>
                </a:solidFill>
                <a:latin typeface="Calibri"/>
              </a:rPr>
              <a:t>Sarcasm · puns · pop-culture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91072" y="3136391"/>
            <a:ext cx="91440" cy="9144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01384" y="307238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303F"/>
                </a:solidFill>
                <a:latin typeface="Calibri"/>
              </a:rPr>
              <a:t>Max one light moment / 2–3 min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45352" y="3685031"/>
            <a:ext cx="5394960" cy="38404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9944" y="3685031"/>
            <a:ext cx="52120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Compliance — non-negotiable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91072" y="4251959"/>
            <a:ext cx="91440" cy="9144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01384" y="4187951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303F"/>
                </a:solidFill>
                <a:latin typeface="Calibri"/>
              </a:rPr>
              <a:t>AI disclosure stated up front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91072" y="4636007"/>
            <a:ext cx="91440" cy="9144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01384" y="4571999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303F"/>
                </a:solidFill>
                <a:latin typeface="Calibri"/>
              </a:rPr>
              <a:t>No binding / legal / coverage guarantees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91072" y="5020055"/>
            <a:ext cx="91440" cy="9144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01384" y="4956047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303F"/>
                </a:solidFill>
                <a:latin typeface="Calibri"/>
              </a:rPr>
              <a:t>Verify identity before any policy data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91072" y="5404103"/>
            <a:ext cx="91440" cy="9144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01384" y="5340095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303F"/>
                </a:solidFill>
                <a:latin typeface="Calibri"/>
              </a:rPr>
              <a:t>Voice: retell-Brynne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Overview   ·   5/98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146304" cy="38404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20624"/>
            <a:ext cx="9509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2A4A"/>
                </a:solidFill>
                <a:latin typeface="Calibri"/>
              </a:rPr>
              <a:t>Runtime &amp; engine configuration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91672" cy="42062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3931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2A4A"/>
                </a:solidFill>
                <a:latin typeface="Calibri"/>
              </a:rPr>
              <a:t>Response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417320"/>
            <a:ext cx="66751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303F"/>
                </a:solidFill>
                <a:latin typeface="Calibri"/>
              </a:rPr>
              <a:t>Retell conversation-flow (v15)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65376"/>
            <a:ext cx="11091672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65376"/>
            <a:ext cx="3931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2A4A"/>
                </a:solidFill>
                <a:latin typeface="Calibri"/>
              </a:rPr>
              <a:t>Reasoning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865376"/>
            <a:ext cx="66751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303F"/>
                </a:solidFill>
                <a:latin typeface="Calibri"/>
              </a:rPr>
              <a:t>GPT-5.1 · cascading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13432"/>
            <a:ext cx="11091672" cy="42062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13432"/>
            <a:ext cx="3931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2A4A"/>
                </a:solidFill>
                <a:latin typeface="Calibri"/>
              </a:rPr>
              <a:t>Channel / voice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313432"/>
            <a:ext cx="66751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303F"/>
                </a:solidFill>
                <a:latin typeface="Calibri"/>
              </a:rPr>
              <a:t>Voice · retell-Brynne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61488"/>
            <a:ext cx="11091672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761488"/>
            <a:ext cx="3931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2A4A"/>
                </a:solidFill>
                <a:latin typeface="Calibri"/>
              </a:rPr>
              <a:t>Language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761488"/>
            <a:ext cx="66751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303F"/>
                </a:solidFill>
                <a:latin typeface="Calibri"/>
              </a:rPr>
              <a:t>English (en-US)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209544"/>
            <a:ext cx="11091672" cy="42062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209544"/>
            <a:ext cx="3931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2A4A"/>
                </a:solidFill>
                <a:latin typeface="Calibri"/>
              </a:rPr>
              <a:t>Max call duration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209544"/>
            <a:ext cx="66751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303F"/>
                </a:solidFill>
                <a:latin typeface="Calibri"/>
              </a:rPr>
              <a:t>60 minutes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657600"/>
            <a:ext cx="11091672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657600"/>
            <a:ext cx="3931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2A4A"/>
                </a:solidFill>
                <a:latin typeface="Calibri"/>
              </a:rPr>
              <a:t>Interruption sensitivity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657600"/>
            <a:ext cx="66751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303F"/>
                </a:solidFill>
                <a:latin typeface="Calibri"/>
              </a:rPr>
              <a:t>0.9 (highly responsive to barge-in)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105656"/>
            <a:ext cx="11091672" cy="42062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105656"/>
            <a:ext cx="3931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2A4A"/>
                </a:solidFill>
                <a:latin typeface="Calibri"/>
              </a:rPr>
              <a:t>Keypad (DTMF)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105656"/>
            <a:ext cx="66751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303F"/>
                </a:solidFill>
                <a:latin typeface="Calibri"/>
              </a:rPr>
              <a:t>Enabled for digit entry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553712"/>
            <a:ext cx="11091672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553712"/>
            <a:ext cx="3931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2A4A"/>
                </a:solidFill>
                <a:latin typeface="Calibri"/>
              </a:rPr>
              <a:t>PII handling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4553712"/>
            <a:ext cx="66751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303F"/>
                </a:solidFill>
                <a:latin typeface="Calibri"/>
              </a:rPr>
              <a:t>Redaction config active · data storage governed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001768"/>
            <a:ext cx="11091672" cy="42062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001768"/>
            <a:ext cx="3931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2A4A"/>
                </a:solidFill>
                <a:latin typeface="Calibri"/>
              </a:rPr>
              <a:t>AI disclosure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5001768"/>
            <a:ext cx="66751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303F"/>
                </a:solidFill>
                <a:latin typeface="Calibri"/>
              </a:rPr>
              <a:t>On — caller told they're speaking with AI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449824"/>
            <a:ext cx="11091672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449824"/>
            <a:ext cx="3931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2A4A"/>
                </a:solidFill>
                <a:latin typeface="Calibri"/>
              </a:rPr>
              <a:t>Post-call analysis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5449824"/>
            <a:ext cx="66751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303F"/>
                </a:solidFill>
                <a:latin typeface="Calibri"/>
              </a:rPr>
              <a:t>GPT-4.1 structured call analysis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Overview   ·   6/98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146304" cy="38404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20624"/>
            <a:ext cx="9509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2A4A"/>
                </a:solidFill>
                <a:latin typeface="Calibri"/>
              </a:rPr>
              <a:t>Variable taxonomy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932688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B7B"/>
                </a:solidFill>
                <a:latin typeface="Calibri"/>
              </a:rPr>
              <a:t>~150 structured variables captured across the journey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449824" cy="1078992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91440" cy="1078992"/>
          </a:xfrm>
          <a:prstGeom prst="rect">
            <a:avLst/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36192"/>
            <a:ext cx="50840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2A4A"/>
                </a:solidFill>
                <a:latin typeface="Calibri"/>
              </a:rPr>
              <a:t>Caller &amp; routing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874519"/>
            <a:ext cx="50383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B"/>
                </a:solidFill>
                <a:latin typeface="Consolas"/>
              </a:rPr>
              <a:t>RapportTone · CallIntent · CallerType · EmpathyTriggered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417320"/>
            <a:ext cx="5449824" cy="1078992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0488" y="1417320"/>
            <a:ext cx="91440" cy="1078992"/>
          </a:xfrm>
          <a:prstGeom prst="rect">
            <a:avLst/>
          </a:prstGeom>
          <a:solidFill>
            <a:srgbClr val="007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536192"/>
            <a:ext cx="50840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2A4A"/>
                </a:solidFill>
                <a:latin typeface="Calibri"/>
              </a:rPr>
              <a:t>Profile &amp; eligibility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874519"/>
            <a:ext cx="50383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B"/>
                </a:solidFill>
                <a:latin typeface="Consolas"/>
              </a:rPr>
              <a:t>ProfileType · HomeOwnership · Dependents · AssetBracket · ResidenceState · EligibilityFlag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642615"/>
            <a:ext cx="5449824" cy="1078992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642615"/>
            <a:ext cx="91440" cy="1078992"/>
          </a:xfrm>
          <a:prstGeom prst="rect">
            <a:avLst/>
          </a:prstGeom>
          <a:solidFill>
            <a:srgbClr val="007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761487"/>
            <a:ext cx="50840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2A4A"/>
                </a:solidFill>
                <a:latin typeface="Calibri"/>
              </a:rPr>
              <a:t>Recommendation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099815"/>
            <a:ext cx="50383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B"/>
                </a:solidFill>
                <a:latin typeface="Consolas"/>
              </a:rPr>
              <a:t>RecommendedPolicy · SelectedPolicy · BundleFlag · BundleQueue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642615"/>
            <a:ext cx="5449824" cy="1078992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2642615"/>
            <a:ext cx="91440" cy="1078992"/>
          </a:xfrm>
          <a:prstGeom prst="rect">
            <a:avLst/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761487"/>
            <a:ext cx="50840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2A4A"/>
                </a:solidFill>
                <a:latin typeface="Calibri"/>
              </a:rPr>
              <a:t>Contact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099815"/>
            <a:ext cx="50383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B"/>
                </a:solidFill>
                <a:latin typeface="Consolas"/>
              </a:rPr>
              <a:t>OwnerName · OwnerEmail · OwnerPhone · OwnerAddress · FEIN · YearsInBusiness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867911"/>
            <a:ext cx="5449824" cy="1078992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867911"/>
            <a:ext cx="91440" cy="1078992"/>
          </a:xfrm>
          <a:prstGeom prst="rect">
            <a:avLst/>
          </a:prstGeom>
          <a:solidFill>
            <a:srgbClr val="007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3986783"/>
            <a:ext cx="50840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2A4A"/>
                </a:solidFill>
                <a:latin typeface="Calibri"/>
              </a:rPr>
              <a:t>Line-of-business intake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325112"/>
            <a:ext cx="50383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B"/>
                </a:solidFill>
                <a:latin typeface="Consolas"/>
              </a:rPr>
              <a:t>WC_* · GL_* · CA_* · CP_* · UM_* · BOP_* · PL_* · HO_* · PA_* · DF_* · FO_*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3867911"/>
            <a:ext cx="5449824" cy="1078992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90488" y="3867911"/>
            <a:ext cx="91440" cy="1078992"/>
          </a:xfrm>
          <a:prstGeom prst="rect">
            <a:avLst/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986783"/>
            <a:ext cx="50840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2A4A"/>
                </a:solidFill>
                <a:latin typeface="Calibri"/>
              </a:rPr>
              <a:t>Risk &amp; quote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325112"/>
            <a:ext cx="50383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B"/>
                </a:solidFill>
                <a:latin typeface="Consolas"/>
              </a:rPr>
              <a:t>RiskLevel · RiskFactorList · AlertFlag · QuoteLow · QuoteHigh · BundleSavingsPercent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093207"/>
            <a:ext cx="5449824" cy="1078992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5093207"/>
            <a:ext cx="91440" cy="1078992"/>
          </a:xfrm>
          <a:prstGeom prst="rect">
            <a:avLst/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5212079"/>
            <a:ext cx="50840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2A4A"/>
                </a:solidFill>
                <a:latin typeface="Calibri"/>
              </a:rPr>
              <a:t>Authentication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" y="5550407"/>
            <a:ext cx="50383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B"/>
                </a:solidFill>
                <a:latin typeface="Consolas"/>
              </a:rPr>
              <a:t>AUTH_PolicyNumber · AUTH_Verified · AUTH_AgentCode · AuthMethodUsed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0488" y="5093207"/>
            <a:ext cx="5449824" cy="1078992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0488" y="5093207"/>
            <a:ext cx="91440" cy="1078992"/>
          </a:xfrm>
          <a:prstGeom prst="rect">
            <a:avLst/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5212079"/>
            <a:ext cx="50840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2A4A"/>
                </a:solidFill>
                <a:latin typeface="Calibri"/>
              </a:rPr>
              <a:t>Servicing &amp; escalation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5550407"/>
            <a:ext cx="50383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B"/>
                </a:solidFill>
                <a:latin typeface="Consolas"/>
              </a:rPr>
              <a:t>UPD_ChangeRequested · EscalationReason · CallbackPreferredTime · CallbackPriority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Overview   ·   7/98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286000"/>
            <a:ext cx="1645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000" b="1" i="0">
                <a:solidFill>
                  <a:srgbClr val="00A896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395728"/>
            <a:ext cx="8961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Foundation &amp; Persona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22576" y="3429000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EBCCB"/>
                </a:solidFill>
                <a:latin typeface="Calibri"/>
              </a:rPr>
              <a:t>2 node(s)  ·  Global Prompt · End 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510528"/>
            <a:ext cx="3044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E8EA0"/>
                </a:solidFill>
                <a:latin typeface="Calibri"/>
              </a:rPr>
              <a:t>Foundation &amp; Persona   ·   8/98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Global Prompt — INSURA Persona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CONVERSATION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node[0]  ·  start-node-1778162666247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6446520" cy="5010912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6117336" cy="310896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63040"/>
            <a:ext cx="5843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THIS NODE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5989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Sets INSURA's global persona, voice, compliance and behaviour — injected into every node.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8757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Personality: warm (not gushing), briefly witty, confident, economical — Midwestern brevity.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57073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502152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Humour guardrails: never joke about claims, losses, pricing or premiums; no sarcasm, puns, pop-culture; max one light moment / 2–3 min.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453999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471416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Tone-matching: mirror the caller — businesslike, chatty, stressed or grieving — and drop humour entirely on hardship.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5509259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5440679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Compliance (non-negotiable): AI disclosure on; no binding/legal/coverage guarantees; verify identity before any policy data.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1298448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70064" y="1298448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EXIT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60" y="172821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43216" y="1682495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call begins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43216" y="1865376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Greeting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Foundation &amp; Persona   ·   9/98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End Call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TERMINAL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node[1]  ·  end-call-node-1778162666247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6446520" cy="5010912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6117336" cy="310896"/>
          </a:xfrm>
          <a:prstGeom prst="roundRect">
            <a:avLst>
              <a:gd name="adj" fmla="val 12000"/>
            </a:avLst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63040"/>
            <a:ext cx="5843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THIS NODE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5989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Terminal node — ends the call once a closing variant or escalation has completed.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8757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Reached from Close Call and from terminal escalation / lookup paths.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57073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502152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No caller-facing speech of its own; the preceding node delivers the goodbye.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0" y="1298448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70064" y="1298448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EXIT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0" y="172821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43216" y="1682495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continue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43216" y="1865376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Foundation &amp; Persona   ·   10/98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286000"/>
            <a:ext cx="1645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000" b="1" i="0">
                <a:solidFill>
                  <a:srgbClr val="00A896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395728"/>
            <a:ext cx="8961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Entry &amp; Intent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22576" y="3429000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EBCCB"/>
                </a:solidFill>
                <a:latin typeface="Calibri"/>
              </a:rPr>
              <a:t>5 node(s)  ·  Greeting · Rapport Buffer (N2) · Intent Detection (N3) · Extract · Extract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510528"/>
            <a:ext cx="3044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E8EA0"/>
                </a:solidFill>
                <a:latin typeface="Calibri"/>
              </a:rPr>
              <a:t>Entry &amp; Intent Classification   ·   11/98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Greeting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CONVERSATION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node[2]  ·  node-1778162908927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6446520" cy="5010912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6117336" cy="310896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63040"/>
            <a:ext cx="5843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THIS NODE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5989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Answers the call with a varied, time-of-day-aware greeting plus a mandatory capability hint.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8757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Rotates greeting wording so it never sounds canned; matches morning/afternoon/evening.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57073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502152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Every greeting states what INSURA can do: new quote · existing policy · coverage question · agent callback.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426567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97096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At most one brief warm touch — no humour before the caller has spoken.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298448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007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0064" y="1298448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INSURA SAYS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1664207"/>
            <a:ext cx="4416552" cy="822960"/>
          </a:xfrm>
          <a:prstGeom prst="roundRect">
            <a:avLst>
              <a:gd name="adj" fmla="val 6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88352" y="1664207"/>
            <a:ext cx="410565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22303F"/>
                </a:solidFill>
                <a:latin typeface="Calibri"/>
              </a:rPr>
              <a:t>"Hello, thanks for calling Wisconsin Mutual. This is INSURA, your AI voice assistant. I can help with a new quote, your existing policy, coverage questions, or an agent callback."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3760" y="2688336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0064" y="2688336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EXIT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3118103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43216" y="3072384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The caller has spoken any response after the greeting (intent, casual remark, question to INSURA, emotion, or silence-then-prompt).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43216" y="3621024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Rapport Buffer (N2)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Entry &amp; Intent Classification   ·   12/98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Rapport Buffer (N2)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CONVERSATION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node[3]  ·  node-1778163223835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6446520" cy="5010912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6117336" cy="310896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63040"/>
            <a:ext cx="5843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THIS NODE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5989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One short, calibrated rapport exchange before intent is classified (N2).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8757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Decision tree by first response: direct intent · question to INSURA · small talk · apology/hedge · emotional cue.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57073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502152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Length capped (1–2 sentences); answers direct questions (e.g. 'Are you a real person?') rather than deflecting.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426567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97096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On emotional cues: one empathy line, then silence — let the caller lead. No humour in this node.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298448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0064" y="1298448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EXIT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23760" y="172821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43216" y="1682495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after the exchange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43216" y="1865376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Extract — Rapport Tone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Entry &amp; Intent Classification   ·   13/98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Intent Detection (N3)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CONVERSATION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node[4]  ·  node-1778163756078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6446520" cy="5010912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6117336" cy="310896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63040"/>
            <a:ext cx="5843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THIS NODE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5989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Asks the four-option routing question and classifies the caller's need (N3).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8757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Prompt: new policy · update existing · look up a policy · general coverage question.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57073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502152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Carefully distinguishes 'lookup' (caller's OWN policy → needs auth) from 'question' (generic education).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426567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97096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On ambiguity, asks one clarifier; safest default is 'question' (no personal data exposed).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298448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007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0064" y="1298448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INSURA SAYS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1664207"/>
            <a:ext cx="4416552" cy="822960"/>
          </a:xfrm>
          <a:prstGeom prst="roundRect">
            <a:avLst>
              <a:gd name="adj" fmla="val 6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88352" y="1664207"/>
            <a:ext cx="410565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22303F"/>
                </a:solidFill>
                <a:latin typeface="Calibri"/>
              </a:rPr>
              <a:t>"Are you looking to get a new policy, update an existing one, look up a policy you already have with us, or do you have a general question about coverage?"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3760" y="2688336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0064" y="2688336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EXIT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3118103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43216" y="3072384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after the exchange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43216" y="3255264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Extract — Call Intent  ⟶ ROUTER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Entry &amp; Intent Classification   ·   14/98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Extract — Rapport Tone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VARIABLE 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node[5]  ·  node-1778164833443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6446520" cy="5010912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6117336" cy="310896"/>
          </a:xfrm>
          <a:prstGeom prst="roundRect">
            <a:avLst>
              <a:gd name="adj" fmla="val 12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63040"/>
            <a:ext cx="5843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THIS NODE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5989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Silently captures 1 structured variable(s) from the preceding exchange, then routes the call.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8757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Confirmed values become structured data for pricing, validation and backend events.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57073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502152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Logic stays separate from language — extraction never speaks to the caller.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426567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97096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Branches the call across 2 paths (see routing).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298448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0064" y="1298448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VARIABLES CAPTURED ·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1700784"/>
            <a:ext cx="123626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1691639"/>
            <a:ext cx="12362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RapportTone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3760" y="2249424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0064" y="2249424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ROUTING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2679191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43216" y="2633472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The caller has acknowledged the bridge or signalled they are ready to discuss their insurance need (directly or by responding to the bridge phrase).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43216" y="3364991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Intent Detection (N3)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23760" y="373989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43216" y="3694176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The caller mentions a significant emotional event (recent loss, illness, financial hardship) that requires more than a single acknowledgment sentence.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43216" y="4425696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Empathy Listener (Global)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Entry &amp; Intent Classification   ·   15/98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Extract — Call Intent  ⟶ ROUTER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VARIABLE 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node[6]  ·  node-1778166229718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11091672" cy="1078992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408176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303F"/>
                </a:solidFill>
                <a:latin typeface="Calibri"/>
              </a:rPr>
              <a:t>Silently captures 1 structured variable(s) from the preceding exchange, then routes the call.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83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2A4A"/>
                </a:solidFill>
                <a:latin typeface="Calibri"/>
              </a:rPr>
              <a:t>Captures: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1865376"/>
            <a:ext cx="1069848" cy="256032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1856232"/>
            <a:ext cx="106984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E72"/>
                </a:solidFill>
                <a:latin typeface="Calibri"/>
              </a:rPr>
              <a:t>CallIntent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505456"/>
            <a:ext cx="11091672" cy="310896"/>
          </a:xfrm>
          <a:prstGeom prst="roundRect">
            <a:avLst>
              <a:gd name="adj" fmla="val 12000"/>
            </a:avLst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505456"/>
            <a:ext cx="108173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ROUTING — 4 branch(es)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4436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2926080"/>
            <a:ext cx="7680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2303F"/>
                </a:solidFill>
                <a:latin typeface="Calibri"/>
              </a:rPr>
              <a:t>CallIntent is 'new'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926080"/>
            <a:ext cx="32278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50" b="1" i="0">
                <a:solidFill>
                  <a:srgbClr val="1B2A4A"/>
                </a:solidFill>
                <a:latin typeface="Calibri"/>
              </a:rPr>
              <a:t>Profile Intake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255264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3236976"/>
            <a:ext cx="7680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2303F"/>
                </a:solidFill>
                <a:latin typeface="Calibri"/>
              </a:rPr>
              <a:t>CallIntent is 'update'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236976"/>
            <a:ext cx="32278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50" b="1" i="0">
                <a:solidFill>
                  <a:srgbClr val="1B2A4A"/>
                </a:solidFill>
                <a:latin typeface="Calibri"/>
              </a:rPr>
              <a:t>N3a Customer Authentication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566160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3547872"/>
            <a:ext cx="7680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2303F"/>
                </a:solidFill>
                <a:latin typeface="Calibri"/>
              </a:rPr>
              <a:t>CallIntent is 'question'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547872"/>
            <a:ext cx="32278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50" b="1" i="0">
                <a:solidFill>
                  <a:srgbClr val="1B2A4A"/>
                </a:solidFill>
                <a:latin typeface="Calibri"/>
              </a:rPr>
              <a:t>Agent / Underwriter Support Mode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87705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858768"/>
            <a:ext cx="7680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2303F"/>
                </a:solidFill>
                <a:latin typeface="Calibri"/>
              </a:rPr>
              <a:t>CallIntent is 'lookup'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858768"/>
            <a:ext cx="32278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50" b="1" i="0">
                <a:solidFill>
                  <a:srgbClr val="1B2A4A"/>
                </a:solidFill>
                <a:latin typeface="Calibri"/>
              </a:rPr>
              <a:t>N3a Customer Authentication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Entry &amp; Intent Classification   ·   16/98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286000"/>
            <a:ext cx="1645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000" b="1" i="0">
                <a:solidFill>
                  <a:srgbClr val="00A896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395728"/>
            <a:ext cx="8961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Global Interceptors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22576" y="3429000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EBCCB"/>
                </a:solidFill>
                <a:latin typeface="Calibri"/>
              </a:rPr>
              <a:t>4 node(s)  ·  Empathy Listener (Global) · Extract · Casual Chat Handler (Global) · Extract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510528"/>
            <a:ext cx="3044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E8EA0"/>
                </a:solidFill>
                <a:latin typeface="Calibri"/>
              </a:rPr>
              <a:t>Global Interceptors   ·   17/98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Empathy Listener (Global)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CONVERSATION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node[7]  ·  node-1778167099360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6446520" cy="5010912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6117336" cy="310896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63040"/>
            <a:ext cx="5843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THIS NODE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5989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Global empathy interceptor — fires in ANY node when distress or an emotional event surfaces.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8757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Triggers on loss/death, illness, job loss, disaster, financial hardship or audible distress.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57073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502152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Drops all humour, acknowledges briefly and sincerely, gives space, then gently returns to the prior task.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426567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97096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Does not pry or counsel; resumes the interrupted node once the caller signals readiness.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298448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0064" y="1298448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EXIT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23760" y="172821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43216" y="1682495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after the exchange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43216" y="1865376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Extract — Empathy Flags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Global Interceptors   ·   18/98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Extract — Empathy Flags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VARIABLE 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node[8]  ·  node-1778167406651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6446520" cy="5010912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6117336" cy="310896"/>
          </a:xfrm>
          <a:prstGeom prst="roundRect">
            <a:avLst>
              <a:gd name="adj" fmla="val 12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63040"/>
            <a:ext cx="5843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THIS NODE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5989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Silently captures 2 structured variable(s) from the preceding exchange, then routes the call.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8757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Confirmed values become structured data for pricing, validation and backend events.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57073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502152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Logic stays separate from language — extraction never speaks to the caller.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0" y="1298448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70064" y="1298448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VARIABLES CAPTURED ·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700784"/>
            <a:ext cx="1656892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1691639"/>
            <a:ext cx="16568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EmpathyTriggered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2092" y="1700784"/>
            <a:ext cx="1825142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72092" y="1691639"/>
            <a:ext cx="182514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EmpathyTriggerType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3760" y="2249424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0064" y="2249424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EXIT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2679191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43216" y="2633472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after the exchange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43216" y="2816352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Global Interceptors   ·   19/98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Casual Chat Handler (Global)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CONVERSATION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node[59]  ·  node-1778227464622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6446520" cy="5010912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6117336" cy="310896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63040"/>
            <a:ext cx="5843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THIS NODE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5989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Global casual-chat interceptor — handles off-script asides mid-intake.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8757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Triggers on jokes, tangents or small talk during intake (not in N1–N3).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57073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502152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Gives a brief warm reply, then steers back to the current question.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426567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97096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Counts diversions so the agent doesn't get stuck off-topic.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298448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0064" y="1298448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EXIT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23760" y="172821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43216" y="1682495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after the exchange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43216" y="1865376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Global Interceptors   ·   20/98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Extract — Casual Chat Count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VARIABLE 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node[60]  ·  node-1778227499405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6446520" cy="5010912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6117336" cy="310896"/>
          </a:xfrm>
          <a:prstGeom prst="roundRect">
            <a:avLst>
              <a:gd name="adj" fmla="val 12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63040"/>
            <a:ext cx="5843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THIS NODE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5989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Silently captures 1 structured variable(s) from the preceding exchange, then routes the call.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8757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Confirmed values become structured data for pricing, validation and backend events.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57073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502152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Logic stays separate from language — extraction never speaks to the caller.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0" y="1298448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70064" y="1298448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VARIABLES CAPTURED ·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700784"/>
            <a:ext cx="157276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1691639"/>
            <a:ext cx="15727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CasualChatCount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2249424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70064" y="2249424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EXIT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60" y="2679191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43216" y="2633472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Caller has acknowledged and is ready to resume the current question.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43216" y="2999232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Global Interceptors   ·   21/98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286000"/>
            <a:ext cx="1645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000" b="1" i="0">
                <a:solidFill>
                  <a:srgbClr val="00A896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395728"/>
            <a:ext cx="8961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New-Quote Qualification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22576" y="3429000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EBCCB"/>
                </a:solidFill>
                <a:latin typeface="Calibri"/>
              </a:rPr>
              <a:t>8 node(s)  ·  Profile Intake · Extract · Eligibility Gate · Extract · Needs Analysis Engine  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510528"/>
            <a:ext cx="3044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E8EA0"/>
                </a:solidFill>
                <a:latin typeface="Calibri"/>
              </a:rPr>
              <a:t>New-Quote Qualification   ·   22/98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Profile Intake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CONVERSATION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node[9]  ·  node-1778168066499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6446520" cy="5010912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6117336" cy="310896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63040"/>
            <a:ext cx="5843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THIS NODE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5989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Bundled, conversational profile intake that powers the needs-analysis recommendation.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8757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Captures person vs business, age band, home ownership, dependents, asset bracket, business ownership + description.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57073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502152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If already verified in N3a (expired-policy pivot), skips intro questions and reuses known data.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426567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97096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Empathy hooks woven in; confirms back what it heard before exiting.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298448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0064" y="1298448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EXIT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23760" y="172821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43216" y="1682495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after the exchange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43216" y="1865376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Extract — Profile Attributes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New-Quote Qualification   ·   23/98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Extract — Profile Attributes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VARIABLE 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node[10]  ·  node-1778168616141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6446520" cy="5010912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6117336" cy="310896"/>
          </a:xfrm>
          <a:prstGeom prst="roundRect">
            <a:avLst>
              <a:gd name="adj" fmla="val 12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63040"/>
            <a:ext cx="5843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THIS NODE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5989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Silently captures 7 structured variable(s) from the preceding exchange, then routes the call.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8757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Confirmed values become structured data for pricing, validation and backend events.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57073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502152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Logic stays separate from language — extraction never speaks to the caller.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426567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97096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Branches the call across 2 paths (see routing).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298448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0064" y="1298448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VARIABLES CAPTURED · 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1700784"/>
            <a:ext cx="123626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1691639"/>
            <a:ext cx="12362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ProfileType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51468" y="1700784"/>
            <a:ext cx="1152144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51468" y="1691639"/>
            <a:ext cx="11521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ProfileAge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95052" y="1700784"/>
            <a:ext cx="140451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95052" y="1691639"/>
            <a:ext cx="140451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HomeOwnership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23760" y="2066543"/>
            <a:ext cx="1152144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0" y="2057400"/>
            <a:ext cx="11521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Dependents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67344" y="2066543"/>
            <a:ext cx="1320393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67344" y="2057400"/>
            <a:ext cx="132039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AssetBracket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79177" y="2066543"/>
            <a:ext cx="140451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9177" y="2057400"/>
            <a:ext cx="140451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BusinessOwner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23760" y="2432303"/>
            <a:ext cx="1909267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60" y="2423160"/>
            <a:ext cx="190926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BusinessDescription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23760" y="2980944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70064" y="2980944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ROUTING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23760" y="3410711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43216" y="3364991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All 6 profile variables (ProfileType, ProfileAge, HomeOwnership, Dependents, AssetBracket, BusinessOwner) have been collected.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43216" y="3913631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Eligibility Gate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23760" y="428853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43216" y="4242816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Caller shares a significant life event (loss, illness, financial hardship, family change) during profile intake.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43216" y="4791456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Empathy Listener (Global)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New-Quote Qualification   ·   24/98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Eligibility Gate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CONVERSATION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node[11]  ·  node-1778169531521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6446520" cy="5010912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6117336" cy="310896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63040"/>
            <a:ext cx="5843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THIS NODE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5989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Eligibility gate — runs only the questions relevant to Personal vs Business before intake.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8757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Personal: residence state (WI/MN appetite), prior cancellation history.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57073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502152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Commercial: business state, industry, employee count — screens off-appetite risks early.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426567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97096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Sets EligibilityFlag; out-of-appetite states route to escalation/callback rather than a dead end.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298448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0064" y="1298448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EXIT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23760" y="172821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43216" y="1682495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after the exchange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43216" y="1865376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Extract — Eligibility &amp; State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New-Quote Qualification   ·   25/98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Extract — Eligibility &amp; State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VARIABLE 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node[12]  ·  node-1778169638952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6446520" cy="5010912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6117336" cy="310896"/>
          </a:xfrm>
          <a:prstGeom prst="roundRect">
            <a:avLst>
              <a:gd name="adj" fmla="val 12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63040"/>
            <a:ext cx="5843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THIS NODE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5989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Silently captures 6 structured variable(s) from the preceding exchange, then routes the call.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8757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Confirmed values become structured data for pricing, validation and backend events.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57073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502152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Logic stays separate from language — extraction never speaks to the caller.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426567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97096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Branches the call across 2 paths (see routing).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298448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0064" y="1298448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VARIABLES CAPTURED · 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1700784"/>
            <a:ext cx="1488643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1691639"/>
            <a:ext cx="148864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ResidenceState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03843" y="1700784"/>
            <a:ext cx="1741017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03843" y="1691639"/>
            <a:ext cx="174101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PriorCancellation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2066543"/>
            <a:ext cx="140451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2057400"/>
            <a:ext cx="140451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BusinessState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19718" y="2066543"/>
            <a:ext cx="1656892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19718" y="2057400"/>
            <a:ext cx="16568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BusinessIndustry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23760" y="2432303"/>
            <a:ext cx="140451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0" y="2423160"/>
            <a:ext cx="140451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EmployeeCount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19718" y="2432303"/>
            <a:ext cx="157276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19718" y="2423160"/>
            <a:ext cx="15727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EligibilityFlag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23760" y="2980944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70064" y="2980944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ROUTING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23760" y="3410711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43216" y="3364991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All eligibility questions answered AND no hard-stop conditions triggered.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43216" y="3730752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Needs Analysis Engine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23760" y="410565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43216" y="4059936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Hard-stop condition triggered: out-of-state residence, restricted industry, or other categorical block.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43216" y="4608576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Escalation &amp; Callback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New-Quote Qualification   ·   26/98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Needs Analysis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CONVERSATION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node[13]  ·  node-1778170121290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6446520" cy="5010912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6117336" cy="310896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63040"/>
            <a:ext cx="5843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THIS NODE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5989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Needs-analysis engine — recommends the best policy or bundle from the profile.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8757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Personal logic: home+dependents+assets→Home+Auto+Umbrella; renters→Auto (no Renters written); &gt;$1M assets→push Umbrella.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84505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776472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Business logic: service &lt;25 staff→BOP; fleet→+Commercial Auto; employees→+Workers' Comp; professional services→+Professional Liability; owns building→+Commercial Property.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481431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745736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Delivers recommendation in ≤25s: acknowledge → recommend with one-line reasoning → offer the choice / bundle.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298448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0064" y="1298448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EXIT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23760" y="172821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43216" y="1682495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after the exchange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43216" y="1865376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Extract — Recommendation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New-Quote Qualification   ·   27/98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Extract — Recommendation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VARIABLE 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node[14]  ·  node-1778170227471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6446520" cy="5010912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6117336" cy="310896"/>
          </a:xfrm>
          <a:prstGeom prst="roundRect">
            <a:avLst>
              <a:gd name="adj" fmla="val 12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63040"/>
            <a:ext cx="5843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THIS NODE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5989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Silently captures 4 structured variable(s) from the preceding exchange, then routes the call.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8757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Confirmed values become structured data for pricing, validation and backend events.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57073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502152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Logic stays separate from language — extraction never speaks to the caller.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0" y="1298448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70064" y="1298448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VARIABLES CAPTURED · 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700784"/>
            <a:ext cx="1741017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1691639"/>
            <a:ext cx="174101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RecommendedPolicy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6217" y="1700784"/>
            <a:ext cx="2245766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6217" y="1691639"/>
            <a:ext cx="224576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RecommendationReasoning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3760" y="2066543"/>
            <a:ext cx="1488643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0" y="2057400"/>
            <a:ext cx="148864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SelectedPolicy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03843" y="2066543"/>
            <a:ext cx="1152144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03843" y="2057400"/>
            <a:ext cx="11521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BundleFlag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23760" y="2615183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70064" y="2615183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EXIT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23760" y="3044951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43216" y="2999231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Caller has accepted the recommendation, declined and chosen a different policy, or confirmed they want a bundle.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43216" y="3547871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Policy Confirmation &amp; Bundle Router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New-Quote Qualification   ·   28/98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Policy Confirmation &amp; Bundle Router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CONVERSATION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node[15]  ·  node-1778170503770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6446520" cy="5010912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6117336" cy="310896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63040"/>
            <a:ext cx="5843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THIS NODE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5989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Routing hub — confirms the selected policy and dispatches to the matching intake (or bundle).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8757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Minimal caller-facing speech: 'Let me get a few specifics for your [policy] quote.'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57073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502152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Reads SelectedPolicy / BundleFlag and transitions to one of 12 line-of-business intakes or the Bundle Loop.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426567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97096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Handles ambiguity by re-confirming the line of business before dispatch.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298448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0064" y="1298448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EXIT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23760" y="172821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43216" y="1682495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after the exchange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43216" y="1865376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Extract — Selected Policy / Bundle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New-Quote Qualification   ·   29/98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Extract — Selected Policy / Bundle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VARIABLE 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node[16]  ·  node-1778170566899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6446520" cy="5010912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6117336" cy="310896"/>
          </a:xfrm>
          <a:prstGeom prst="roundRect">
            <a:avLst>
              <a:gd name="adj" fmla="val 12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63040"/>
            <a:ext cx="5843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THIS NODE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5989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Silently captures 2 structured variable(s) from the preceding exchange, then routes the call.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8757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Confirmed values become structured data for pricing, validation and backend events.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57073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502152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Logic stays separate from language — extraction never speaks to the caller.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426567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97096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Branches the call across 2 paths (see routing).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298448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0064" y="1298448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VARIABLES CAPTURED · 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1700784"/>
            <a:ext cx="140451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1691639"/>
            <a:ext cx="140451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CurrentPolicy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19718" y="1700784"/>
            <a:ext cx="123626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19718" y="1691639"/>
            <a:ext cx="12362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BundleQueue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2249424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70064" y="2249424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ROUTING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23760" y="2679191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43216" y="2633472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Single policy selected. N8 collects contact info universal to all policy types.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3216" y="2999232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Phase 1 — Contact Information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23760" y="337413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3216" y="3328416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Caller selected multiple policies (Bundle).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3216" y="3511296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Bundle Loop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New-Quote Qualification   ·   30/98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286000"/>
            <a:ext cx="1645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000" b="1" i="0">
                <a:solidFill>
                  <a:srgbClr val="00A896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395728"/>
            <a:ext cx="8961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Universal Contact Capture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22576" y="3429000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EBCCB"/>
                </a:solidFill>
                <a:latin typeface="Calibri"/>
              </a:rPr>
              <a:t>2 node(s)  ·  Phase 1 · Extract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510528"/>
            <a:ext cx="3044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E8EA0"/>
                </a:solidFill>
                <a:latin typeface="Calibri"/>
              </a:rPr>
              <a:t>Universal Contact Capture   ·   31/98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Phase 1 — Contact Information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CONVERSATION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node[17]  ·  node-1778170732579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6446520" cy="5010912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6117336" cy="310896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63040"/>
            <a:ext cx="5843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THIS NODE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5989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Universal Phase-1 contact capture that applies to every policy type.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8757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One question at a time, each confirmed: name, email, phone, mailing address.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57073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502152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Commercial add-ons: legal business name, FEIN, years in business.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426567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97096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Invites callers to spell tricky values; warm bridge into line-specific intake.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298448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0064" y="1298448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EXIT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23760" y="172821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43216" y="1682495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after the exchange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43216" y="1865376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Extract — Contact &amp; Business  ⟶ ROUTER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Universal Contact Capture   ·   32/98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Extract — Contact &amp; Business  ⟶ ROUTER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VARIABLE 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node[18]  ·  node-1778170803681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11091672" cy="1078992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408176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303F"/>
                </a:solidFill>
                <a:latin typeface="Calibri"/>
              </a:rPr>
              <a:t>Silently captures 7 structured variable(s) from the preceding exchange, then routes the call.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83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2A4A"/>
                </a:solidFill>
                <a:latin typeface="Calibri"/>
              </a:rPr>
              <a:t>Captures: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1865376"/>
            <a:ext cx="992124" cy="256032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1856232"/>
            <a:ext cx="9921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E72"/>
                </a:solidFill>
                <a:latin typeface="Calibri"/>
              </a:rPr>
              <a:t>OwnerName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94076" y="1865376"/>
            <a:ext cx="1069848" cy="256032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94076" y="1856232"/>
            <a:ext cx="106984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E72"/>
                </a:solidFill>
                <a:latin typeface="Calibri"/>
              </a:rPr>
              <a:t>OwnerEmail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37076" y="1865376"/>
            <a:ext cx="1069848" cy="256032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37076" y="1856232"/>
            <a:ext cx="106984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E72"/>
                </a:solidFill>
                <a:latin typeface="Calibri"/>
              </a:rPr>
              <a:t>OwnerPhone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80076" y="1865376"/>
            <a:ext cx="1225296" cy="256032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80076" y="1856232"/>
            <a:ext cx="12252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E72"/>
                </a:solidFill>
                <a:latin typeface="Calibri"/>
              </a:rPr>
              <a:t>OwnerAddress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78524" y="1865376"/>
            <a:ext cx="1613916" cy="256032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8524" y="1856232"/>
            <a:ext cx="161391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E72"/>
                </a:solidFill>
                <a:latin typeface="Calibri"/>
              </a:rPr>
              <a:t>BusinessLegalName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65592" y="1865376"/>
            <a:ext cx="603504" cy="256032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65592" y="1856232"/>
            <a:ext cx="60350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E72"/>
                </a:solidFill>
                <a:latin typeface="Calibri"/>
              </a:rPr>
              <a:t>FEIN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42248" y="1865376"/>
            <a:ext cx="1458468" cy="256032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42248" y="1856232"/>
            <a:ext cx="145846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E72"/>
                </a:solidFill>
                <a:latin typeface="Calibri"/>
              </a:rPr>
              <a:t>YearsInBusiness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2505456"/>
            <a:ext cx="11091672" cy="310896"/>
          </a:xfrm>
          <a:prstGeom prst="roundRect">
            <a:avLst>
              <a:gd name="adj" fmla="val 12000"/>
            </a:avLst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2505456"/>
            <a:ext cx="108173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ROUTING — 12 branch(es)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94436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2926080"/>
            <a:ext cx="7680960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BundleFlag is 'Yes'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926080"/>
            <a:ext cx="3227832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850" b="1" i="0">
                <a:solidFill>
                  <a:srgbClr val="1B2A4A"/>
                </a:solidFill>
                <a:latin typeface="Calibri"/>
              </a:rPr>
              <a:t>Bundle Loop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19582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3177540"/>
            <a:ext cx="7680960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BundleFlag is 'No' AND SelectedPolicy is 'Workers' Compensation'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177540"/>
            <a:ext cx="3227832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850" b="1" i="0">
                <a:solidFill>
                  <a:srgbClr val="1B2A4A"/>
                </a:solidFill>
                <a:latin typeface="Calibri"/>
              </a:rPr>
              <a:t>Workers' Compensation Intake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4472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6" y="3429000"/>
            <a:ext cx="7680960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BundleFlag is 'No' AND SelectedPolicy is 'General Liability'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3429000"/>
            <a:ext cx="3227832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850" b="1" i="0">
                <a:solidFill>
                  <a:srgbClr val="1B2A4A"/>
                </a:solidFill>
                <a:latin typeface="Calibri"/>
              </a:rPr>
              <a:t>General Liability Intake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69874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6" y="3680460"/>
            <a:ext cx="7680960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BundleFlag is 'No' AND SelectedPolicy is 'Commercial Auto'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3680460"/>
            <a:ext cx="3227832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850" b="1" i="0">
                <a:solidFill>
                  <a:srgbClr val="1B2A4A"/>
                </a:solidFill>
                <a:latin typeface="Calibri"/>
              </a:rPr>
              <a:t>Commercial Auto Intake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95020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8096" y="3931920"/>
            <a:ext cx="7680960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BundleFlag is 'No' AND SelectedPolicy is 'Commercial Property'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3931920"/>
            <a:ext cx="3227832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850" b="1" i="0">
                <a:solidFill>
                  <a:srgbClr val="1B2A4A"/>
                </a:solidFill>
                <a:latin typeface="Calibri"/>
              </a:rPr>
              <a:t>Commercial Property Intake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20166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8096" y="4183380"/>
            <a:ext cx="7680960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BundleFlag is 'No' AND SelectedPolicy is 'Umbrella / Excess Liability'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4183380"/>
            <a:ext cx="3227832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850" b="1" i="0">
                <a:solidFill>
                  <a:srgbClr val="1B2A4A"/>
                </a:solidFill>
                <a:latin typeface="Calibri"/>
              </a:rPr>
              <a:t>Umbrella / Excess Liability Intake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445312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8096" y="4434840"/>
            <a:ext cx="7680960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BundleFlag is 'No' AND SelectedPolicy is 'BOP'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4434840"/>
            <a:ext cx="3227832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850" b="1" i="0">
                <a:solidFill>
                  <a:srgbClr val="1B2A4A"/>
                </a:solidFill>
                <a:latin typeface="Calibri"/>
              </a:rPr>
              <a:t>Business Owner's Policy (BOP) Intake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47045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8096" y="4686300"/>
            <a:ext cx="7680960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BundleFlag is 'No' AND SelectedPolicy is 'Professional Liability'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4686300"/>
            <a:ext cx="3227832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850" b="1" i="0">
                <a:solidFill>
                  <a:srgbClr val="1B2A4A"/>
                </a:solidFill>
                <a:latin typeface="Calibri"/>
              </a:rPr>
              <a:t>Professional Liability Intake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495604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8096" y="4937760"/>
            <a:ext cx="7680960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BundleFlag is 'No' AND SelectedPolicy is 'Homeowners'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0" y="4937760"/>
            <a:ext cx="3227832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850" b="1" i="0">
                <a:solidFill>
                  <a:srgbClr val="1B2A4A"/>
                </a:solidFill>
                <a:latin typeface="Calibri"/>
              </a:rPr>
              <a:t>Homeowners Intake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520750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8096" y="5189220"/>
            <a:ext cx="7680960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BundleFlag is 'No' AND SelectedPolicy is 'Personal Auto'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0" y="5189220"/>
            <a:ext cx="3227832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850" b="1" i="0">
                <a:solidFill>
                  <a:srgbClr val="1B2A4A"/>
                </a:solidFill>
                <a:latin typeface="Calibri"/>
              </a:rPr>
              <a:t>Personal Auto Intake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545896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68096" y="5440680"/>
            <a:ext cx="7680960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BundleFlag is 'No' AND SelectedPolicy is 'Dwelling Fire'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12480" y="5440680"/>
            <a:ext cx="3227832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850" b="1" i="0">
                <a:solidFill>
                  <a:srgbClr val="1B2A4A"/>
                </a:solidFill>
                <a:latin typeface="Calibri"/>
              </a:rPr>
              <a:t>Dwelling Fire Intake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" y="571042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8096" y="5692140"/>
            <a:ext cx="7680960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BundleFlag is 'No' AND SelectedPolicy is 'Farmowners'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0" y="5692140"/>
            <a:ext cx="3227832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850" b="1" i="0">
                <a:solidFill>
                  <a:srgbClr val="1B2A4A"/>
                </a:solidFill>
                <a:latin typeface="Calibri"/>
              </a:rPr>
              <a:t>Farmowners Intake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Universal Contact Capture   ·   33/98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286000"/>
            <a:ext cx="1645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000" b="1" i="0">
                <a:solidFill>
                  <a:srgbClr val="00A896"/>
                </a:solidFill>
                <a:latin typeface="Calibr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395728"/>
            <a:ext cx="8961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Lines of Business — Intake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22576" y="3429000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EBCCB"/>
                </a:solidFill>
                <a:latin typeface="Calibri"/>
              </a:rPr>
              <a:t>22 node(s)  ·  Workers' Compensation Intake · Extract · General Liability Intake · Extract · Commercial Auto Intake  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510528"/>
            <a:ext cx="3044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E8EA0"/>
                </a:solidFill>
                <a:latin typeface="Calibri"/>
              </a:rPr>
              <a:t>Lines of Business — Intake   ·   34/98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Workers' Compensation Intake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CONVERSATION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node[19]  ·  node-1778216332152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6446520" cy="5010912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6117336" cy="310896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63040"/>
            <a:ext cx="5843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THIS NODE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5989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Line-of-business intake — collects underwriting data for this policy.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8757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Asks one question at a time, confirming each answer warmly.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57073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502152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Risk drivers: payroll, class code, EMR and claim history drive the rate.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426567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97096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Empathy-first acknowledgements; global tone rules apply.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686300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617720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Exits to its extraction node, then risk scoring or the bundle loop.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1298448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007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70064" y="1298448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INSURA SAYS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3760" y="1664207"/>
            <a:ext cx="4416552" cy="822960"/>
          </a:xfrm>
          <a:prstGeom prst="roundRect">
            <a:avLst>
              <a:gd name="adj" fmla="val 6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88352" y="1664207"/>
            <a:ext cx="410565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22303F"/>
                </a:solidFill>
                <a:latin typeface="Calibri"/>
              </a:rPr>
              <a:t>"Workers' Comp is straightforward — a few details about your team."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2688336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70064" y="2688336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EXIT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23760" y="3118103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43216" y="3072384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after the exchange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3216" y="3255264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Extract — Workers' Comp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Lines of Business — Intake   ·   35/98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Extract — Workers' Comp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VARIABLE 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node[20]  ·  node-1778216411235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6446520" cy="5010912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6117336" cy="310896"/>
          </a:xfrm>
          <a:prstGeom prst="roundRect">
            <a:avLst>
              <a:gd name="adj" fmla="val 12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63040"/>
            <a:ext cx="5843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THIS NODE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5989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Silently captures 7 structured variable(s) from the preceding exchange, then routes the call.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8757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Confirmed values become structured data for pricing, validation and backend events.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57073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502152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Logic stays separate from language — extraction never speaks to the caller.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426567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97096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Branches the call across 3 paths (see routing).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298448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0064" y="1298448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VARIABLES CAPTURED · 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1700784"/>
            <a:ext cx="1656892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1691639"/>
            <a:ext cx="16568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WC_EmployeeCount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2092" y="1700784"/>
            <a:ext cx="1656892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72092" y="1691639"/>
            <a:ext cx="16568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WC_AnnualPayroll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2066543"/>
            <a:ext cx="1741017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2057400"/>
            <a:ext cx="174101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WC_JobDescription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6217" y="2066543"/>
            <a:ext cx="1320393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6217" y="2057400"/>
            <a:ext cx="132039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WC_ClassCode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468051" y="2066543"/>
            <a:ext cx="815644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68051" y="2057400"/>
            <a:ext cx="8156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WC_EMR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23760" y="2432303"/>
            <a:ext cx="157276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0" y="2423160"/>
            <a:ext cx="15727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WC_ClaimHistory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2432303"/>
            <a:ext cx="1656892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87968" y="2423160"/>
            <a:ext cx="16568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WC_WorkLocations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23760" y="2980944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70064" y="2980944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ROUTING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23760" y="3410711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43216" y="3364991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All Workers' Compensation Intake-specific underwriting questions answered.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43216" y="3730752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Risk Scoring Engine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23760" y="410565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43216" y="4059936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If this was one policy in a bundle, return to N20 for next policy.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43216" y="4425696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Bundle Loop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23760" y="4800600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43216" y="4754880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Caller mentions a past claim, loss, or hardship requiring empathy turn.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43216" y="5120640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Empathy Listener (Global)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Lines of Business — Intake   ·   36/98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General Liability Intake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CONVERSATION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node[21]  ·  node-1778216842790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6446520" cy="5010912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6117336" cy="310896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63040"/>
            <a:ext cx="5843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THIS NODE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5989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Line-of-business intake — collects underwriting data for this policy.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8757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Asks one question at a time, confirming each answer warmly.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57073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502152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Risk drivers: foot traffic, revenue, off-premises work and claims are the risk levers.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426567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97096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Empathy-first acknowledgements; global tone rules apply.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686300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617720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Exits to its extraction node, then risk scoring or the bundle loop.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1298448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007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70064" y="1298448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INSURA SAYS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3760" y="1664207"/>
            <a:ext cx="4416552" cy="822960"/>
          </a:xfrm>
          <a:prstGeom prst="roundRect">
            <a:avLst>
              <a:gd name="adj" fmla="val 6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88352" y="1664207"/>
            <a:ext cx="410565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22303F"/>
                </a:solidFill>
                <a:latin typeface="Calibri"/>
              </a:rPr>
              <a:t>"General Liability covers premises and operations risks."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2688336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70064" y="2688336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EXIT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23760" y="3118103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43216" y="3072384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after the exchange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3216" y="3255264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Extract — General Liability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Lines of Business — Intake   ·   37/98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Extract — General Liability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VARIABLE 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node[22]  ·  node-1778216897975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6446520" cy="5010912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6117336" cy="310896"/>
          </a:xfrm>
          <a:prstGeom prst="roundRect">
            <a:avLst>
              <a:gd name="adj" fmla="val 12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63040"/>
            <a:ext cx="5843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THIS NODE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5989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Silently captures 5 structured variable(s) from the preceding exchange, then routes the call.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8757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Confirmed values become structured data for pricing, validation and backend events.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57073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502152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Logic stays separate from language — extraction never speaks to the caller.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426567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97096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Branches the call across 3 paths (see routing).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298448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0064" y="1298448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VARIABLES CAPTURED · 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1700784"/>
            <a:ext cx="157276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1691639"/>
            <a:ext cx="15727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GL_PremisesType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87968" y="1700784"/>
            <a:ext cx="1488643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87968" y="1691639"/>
            <a:ext cx="148864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GL_FootTraffic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2066543"/>
            <a:ext cx="1656892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2057400"/>
            <a:ext cx="16568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GL_AnnualRevenue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092" y="2066543"/>
            <a:ext cx="157276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72092" y="2057400"/>
            <a:ext cx="15727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GL_ClaimHistory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23760" y="2432303"/>
            <a:ext cx="1825142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0" y="2423160"/>
            <a:ext cx="182514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GL_OffPremisesWork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23760" y="2980944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70064" y="2980944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ROUTING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60" y="3410711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43216" y="3364991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All General Liability Intake-specific underwriting questions answered.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43216" y="3730752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Risk Scoring Engine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23760" y="410565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43216" y="4059936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If this was one policy in a bundle, return to N20 for next policy.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43216" y="4425696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Bundle Loop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23760" y="4800600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43216" y="4754880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Caller mentions a past claim, loss, or hardship requiring empathy turn.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43216" y="5120640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Empathy Listener (Global)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Lines of Business — Intake   ·   38/98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Commercial Auto Intake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CONVERSATION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node[23]  ·  node-1778217123525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6446520" cy="5010912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6117336" cy="310896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63040"/>
            <a:ext cx="5843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THIS NODE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5989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Line-of-business intake — collects underwriting data for this policy.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8757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Asks one question at a time, confirming each answer warmly.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57073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502152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Risk drivers: driver history and cargo type are the key risk flags.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426567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97096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Empathy-first acknowledgements; global tone rules apply.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686300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617720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Exits to its extraction node, then risk scoring or the bundle loop.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1298448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007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70064" y="1298448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INSURA SAYS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3760" y="1664207"/>
            <a:ext cx="4416552" cy="822960"/>
          </a:xfrm>
          <a:prstGeom prst="roundRect">
            <a:avLst>
              <a:gd name="adj" fmla="val 6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88352" y="1664207"/>
            <a:ext cx="410565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22303F"/>
                </a:solidFill>
                <a:latin typeface="Calibri"/>
              </a:rPr>
              <a:t>"Commercial Auto — your vehicles and drivers, vehicle by vehicle."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2688336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70064" y="2688336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EXIT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23760" y="3118103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43216" y="3072384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after the exchange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3216" y="3255264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Extract — Commercial Auto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Lines of Business — Intake   ·   39/98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Extract — Commercial Auto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VARIABLE 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node[24]  ·  node-1778217162509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6446520" cy="5010912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6117336" cy="310896"/>
          </a:xfrm>
          <a:prstGeom prst="roundRect">
            <a:avLst>
              <a:gd name="adj" fmla="val 12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63040"/>
            <a:ext cx="5843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THIS NODE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5989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Silently captures 6 structured variable(s) from the preceding exchange, then routes the call.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8757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Confirmed values become structured data for pricing, validation and backend events.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57073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502152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Logic stays separate from language — extraction never speaks to the caller.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426567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97096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Branches the call across 3 paths (see routing).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298448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0064" y="1298448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VARIABLES CAPTURED · 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1700784"/>
            <a:ext cx="157276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1691639"/>
            <a:ext cx="15727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CA_VehicleCount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87968" y="1700784"/>
            <a:ext cx="1488643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87968" y="1691639"/>
            <a:ext cx="148864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CA_VehicleList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2066543"/>
            <a:ext cx="1488643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2057400"/>
            <a:ext cx="148864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CA_BusinessUse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03843" y="2066543"/>
            <a:ext cx="1488643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03843" y="2057400"/>
            <a:ext cx="148864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CA_DriverCount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23760" y="2432303"/>
            <a:ext cx="1656892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0" y="2423160"/>
            <a:ext cx="16568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CA_DriverHistory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72092" y="2432303"/>
            <a:ext cx="1320393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72092" y="2423160"/>
            <a:ext cx="132039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CA_CargoType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23760" y="2980944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70064" y="2980944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ROUTING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23760" y="3410711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43216" y="3364991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All Commercial Auto Intake-specific underwriting questions answered.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43216" y="3730752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Risk Scoring Engine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23760" y="410565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43216" y="4059936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If this was one policy in a bundle, return to N20 for next policy.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43216" y="4425696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Bundle Loop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23760" y="4800600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43216" y="4754880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Caller mentions a past claim, loss, or hardship requiring empathy turn.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43216" y="5120640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Empathy Listener (Global)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Lines of Business — Intake   ·   40/98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Commercial Property Intake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CONVERSATION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node[25]  ·  node-1778217565721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6446520" cy="5010912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6117336" cy="310896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63040"/>
            <a:ext cx="5843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THIS NODE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5989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Line-of-business intake — collects underwriting data for this policy.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8757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Asks one question at a time, confirming each answer warmly.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57073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502152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Risk drivers: construction type, age, protection features and loss history set the rate.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426567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97096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Empathy-first acknowledgements; global tone rules apply.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686300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617720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Exits to its extraction node, then risk scoring or the bundle loop.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1298448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007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70064" y="1298448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INSURA SAYS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3760" y="1664207"/>
            <a:ext cx="4416552" cy="822960"/>
          </a:xfrm>
          <a:prstGeom prst="roundRect">
            <a:avLst>
              <a:gd name="adj" fmla="val 6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88352" y="1664207"/>
            <a:ext cx="410565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22303F"/>
                </a:solidFill>
                <a:latin typeface="Calibri"/>
              </a:rPr>
              <a:t>"Commercial Property — the building and what's inside it."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2688336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70064" y="2688336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EXIT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23760" y="3118103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43216" y="3072384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after the exchange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3216" y="3255264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Extract — Commercial Property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Lines of Business — Intake   ·   41/98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Extract — Commercial Property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VARIABLE 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node[26]  ·  node-1778217624453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6446520" cy="5010912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6117336" cy="310896"/>
          </a:xfrm>
          <a:prstGeom prst="roundRect">
            <a:avLst>
              <a:gd name="adj" fmla="val 12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63040"/>
            <a:ext cx="5843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THIS NODE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5989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Silently captures 8 structured variable(s) from the preceding exchange, then routes the call.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8757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Confirmed values become structured data for pricing, validation and backend events.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57073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502152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Logic stays separate from language — extraction never speaks to the caller.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426567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97096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Branches the call across 3 paths (see routing).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298448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0064" y="1298448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VARIABLES CAPTURED · 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1700784"/>
            <a:ext cx="123626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1691639"/>
            <a:ext cx="12362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CP_OwnLease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51468" y="1700784"/>
            <a:ext cx="1825142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51468" y="1691639"/>
            <a:ext cx="182514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CP_PropertyAddress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2066543"/>
            <a:ext cx="1656892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2057400"/>
            <a:ext cx="16568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CP_BuildingValue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092" y="2066543"/>
            <a:ext cx="1656892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72092" y="2057400"/>
            <a:ext cx="16568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CP_ContentsValue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23760" y="2432303"/>
            <a:ext cx="1909267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0" y="2423160"/>
            <a:ext cx="190926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CP_ConstructionType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24467" y="2432303"/>
            <a:ext cx="1320393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24467" y="2423160"/>
            <a:ext cx="132039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CP_YearBuilt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23760" y="2798063"/>
            <a:ext cx="2077516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60" y="2788920"/>
            <a:ext cx="207751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CP_ProtectionFeatures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92716" y="2798063"/>
            <a:ext cx="1488643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92716" y="2788920"/>
            <a:ext cx="148864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CP_LossHistory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23760" y="3346703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70064" y="3346703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ROUTING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23760" y="377647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43216" y="3730752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All Commercial Property Intake-specific underwriting questions answered.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43216" y="4096512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Risk Scoring Engine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23760" y="447141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43216" y="4425696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If this was one policy in a bundle, return to N20 for next policy.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43216" y="4791456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Bundle Loop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23760" y="5166359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43216" y="5120640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Caller mentions a past claim, loss, or hardship requiring empathy turn.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43216" y="5486400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Empathy Listener (Global)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Lines of Business — Intake   ·   42/98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Umbrella / Excess Liability Intake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CONVERSATION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node[27]  ·  node-1778218363489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6446520" cy="5010912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6117336" cy="310896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63040"/>
            <a:ext cx="5843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THIS NODE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5989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Line-of-business intake — collects underwriting data for this policy.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8757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Asks one question at a time, confirming each answer warmly.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57073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502152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Risk drivers: underlying limits, exposures, lawsuit history and net worth are captured.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426567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97096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Empathy-first acknowledgements; global tone rules apply.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686300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617720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Exits to its extraction node, then risk scoring or the bundle loop.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1298448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007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70064" y="1298448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INSURA SAYS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3760" y="1664207"/>
            <a:ext cx="4416552" cy="822960"/>
          </a:xfrm>
          <a:prstGeom prst="roundRect">
            <a:avLst>
              <a:gd name="adj" fmla="val 6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88352" y="1664207"/>
            <a:ext cx="410565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22303F"/>
                </a:solidFill>
                <a:latin typeface="Calibri"/>
              </a:rPr>
              <a:t>"Umbrella — extra protection on top of your other policies."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2688336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70064" y="2688336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EXIT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23760" y="3118103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43216" y="3072384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after the exchange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3216" y="3255264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Extract — Umbrella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Lines of Business — Intake   ·   43/98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Extract — Umbrella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VARIABLE 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node[28]  ·  node-1778218402749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6446520" cy="5010912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6117336" cy="310896"/>
          </a:xfrm>
          <a:prstGeom prst="roundRect">
            <a:avLst>
              <a:gd name="adj" fmla="val 12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63040"/>
            <a:ext cx="5843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THIS NODE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5989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Silently captures 6 structured variable(s) from the preceding exchange, then routes the call.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8757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Confirmed values become structured data for pricing, validation and backend events.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57073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502152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Logic stays separate from language — extraction never speaks to the caller.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426567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97096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Branches the call across 3 paths (see routing).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298448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0064" y="1298448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VARIABLES CAPTURED · 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1700784"/>
            <a:ext cx="1656892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1691639"/>
            <a:ext cx="16568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UM_CoverageLimit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2092" y="1700784"/>
            <a:ext cx="2077516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72092" y="1691639"/>
            <a:ext cx="207751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UM_UnderlyingPolicies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2066543"/>
            <a:ext cx="1909267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2057400"/>
            <a:ext cx="190926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UM_UnderlyingLimits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24467" y="2066543"/>
            <a:ext cx="2161641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24467" y="2057400"/>
            <a:ext cx="216164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UM_AdditionalExposures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23760" y="2432303"/>
            <a:ext cx="1741017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0" y="2423160"/>
            <a:ext cx="174101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UM_LawsuitHistory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56217" y="2432303"/>
            <a:ext cx="123626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56217" y="2423160"/>
            <a:ext cx="12362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UM_NetWorth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23760" y="2980944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70064" y="2980944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ROUTING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23760" y="3410711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43216" y="3364991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All Umbrella / Excess Liability Intake-specific underwriting questions answered.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43216" y="3730752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Risk Scoring Engine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23760" y="410565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43216" y="4059936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If this was one policy in a bundle, return to N20 for next policy.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43216" y="4425696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Bundle Loop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23760" y="4800600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43216" y="4754880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Caller mentions a past claim, loss, or hardship requiring empathy turn.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43216" y="5120640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Empathy Listener (Global)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Lines of Business — Intake   ·   44/98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Business Owner's Policy (BOP) Intake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CONVERSATION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node[29]  ·  node-1778218641215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6446520" cy="5010912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6117336" cy="310896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63040"/>
            <a:ext cx="5843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THIS NODE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5989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Line-of-business intake — collects underwriting data for this policy.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8757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Asks one question at a time, confirming each answer warmly.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57073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502152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Risk drivers: operations type, premises status and claim history drive eligibility.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426567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97096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Empathy-first acknowledgements; global tone rules apply.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686300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617720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Exits to its extraction node, then risk scoring or the bundle loop.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1298448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007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70064" y="1298448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INSURA SAYS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3760" y="1664207"/>
            <a:ext cx="4416552" cy="822960"/>
          </a:xfrm>
          <a:prstGeom prst="roundRect">
            <a:avLst>
              <a:gd name="adj" fmla="val 6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88352" y="1664207"/>
            <a:ext cx="410565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22303F"/>
                </a:solidFill>
                <a:latin typeface="Calibri"/>
              </a:rPr>
              <a:t>"A BOP combines property + liability — ideal for small businesses."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2688336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70064" y="2688336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EXIT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23760" y="3118103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43216" y="3072384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after the exchange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3216" y="3255264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Extract — BOP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Lines of Business — Intake   ·   45/98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Extract — BOP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VARIABLE 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node[30]  ·  node-1778218677247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6446520" cy="5010912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6117336" cy="310896"/>
          </a:xfrm>
          <a:prstGeom prst="roundRect">
            <a:avLst>
              <a:gd name="adj" fmla="val 12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63040"/>
            <a:ext cx="5843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THIS NODE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5989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Silently captures 7 structured variable(s) from the preceding exchange, then routes the call.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8757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Confirmed values become structured data for pricing, validation and backend events.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57073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502152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Logic stays separate from language — extraction never speaks to the caller.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426567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97096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Branches the call across 3 paths (see routing).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298448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0064" y="1298448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VARIABLES CAPTURED · 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1700784"/>
            <a:ext cx="1656892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1691639"/>
            <a:ext cx="16568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BOP_BusinessType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2092" y="1700784"/>
            <a:ext cx="1741017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72092" y="1691639"/>
            <a:ext cx="174101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BOP_EmployeeCount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2066543"/>
            <a:ext cx="1741017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2057400"/>
            <a:ext cx="174101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BOP_AnnualRevenue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6217" y="2066543"/>
            <a:ext cx="1825142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6217" y="2057400"/>
            <a:ext cx="182514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BOP_PremisesStatus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23760" y="2432303"/>
            <a:ext cx="1741017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0" y="2423160"/>
            <a:ext cx="174101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BOP_PropertyValue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56217" y="2432303"/>
            <a:ext cx="1656892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56217" y="2423160"/>
            <a:ext cx="16568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BOP_ClaimHistory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23760" y="2798063"/>
            <a:ext cx="1825142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60" y="2788920"/>
            <a:ext cx="182514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BOP_OperationsType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23760" y="3346703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70064" y="3346703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ROUTING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23760" y="377647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43216" y="3730752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All Business Owner's Policy (BOP) Intake-specific underwriting questions answered.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43216" y="4096512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Risk Scoring Engine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23760" y="447141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43216" y="4425696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If this was one policy in a bundle, return to N20 for next policy.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43216" y="4791456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Bundle Loop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23760" y="5166359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43216" y="5120640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Caller mentions a past claim, loss, or hardship requiring empathy turn.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43216" y="5486400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Empathy Listener (Global)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Lines of Business — Intake   ·   46/98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Professional Liability Intake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CONVERSATION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node[31]  ·  node-1778218937807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6446520" cy="5010912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6117336" cy="310896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63040"/>
            <a:ext cx="5843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THIS NODE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5989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Line-of-business intake — collects underwriting data for this policy.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8757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Asks one question at a time, confirming each answer warmly.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57073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502152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Risk drivers: credentials, revenue, prior coverage and claim history are assessed.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426567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97096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Empathy-first acknowledgements; global tone rules apply.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686300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617720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Exits to its extraction node, then risk scoring or the bundle loop.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1298448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007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70064" y="1298448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INSURA SAYS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3760" y="1664207"/>
            <a:ext cx="4416552" cy="822960"/>
          </a:xfrm>
          <a:prstGeom prst="roundRect">
            <a:avLst>
              <a:gd name="adj" fmla="val 6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88352" y="1664207"/>
            <a:ext cx="410565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22303F"/>
                </a:solidFill>
                <a:latin typeface="Calibri"/>
              </a:rPr>
              <a:t>"Professional Liability — claims arising from your professional services."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2688336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70064" y="2688336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EXIT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23760" y="3118103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43216" y="3072384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after the exchange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3216" y="3255264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Extract — Professional Liability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Lines of Business — Intake   ·   47/98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Extract — Professional Liability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VARIABLE 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node[32]  ·  node-1778218976253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6446520" cy="5010912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6117336" cy="310896"/>
          </a:xfrm>
          <a:prstGeom prst="roundRect">
            <a:avLst>
              <a:gd name="adj" fmla="val 12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63040"/>
            <a:ext cx="5843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THIS NODE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5989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Silently captures 7 structured variable(s) from the preceding exchange, then routes the call.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8757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Confirmed values become structured data for pricing, validation and backend events.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57073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502152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Logic stays separate from language — extraction never speaks to the caller.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426567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97096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Branches the call across 3 paths (see routing).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298448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0064" y="1298448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VARIABLES CAPTURED · 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1700784"/>
            <a:ext cx="1488643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1691639"/>
            <a:ext cx="148864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PL_ServiceType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03843" y="1700784"/>
            <a:ext cx="1825142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03843" y="1691639"/>
            <a:ext cx="182514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PL_YearsExperience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2066543"/>
            <a:ext cx="1488643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2057400"/>
            <a:ext cx="148864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PL_Credentials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03843" y="2066543"/>
            <a:ext cx="1152144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03843" y="2057400"/>
            <a:ext cx="11521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PL_Revenue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23760" y="2432303"/>
            <a:ext cx="1656892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0" y="2423160"/>
            <a:ext cx="16568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PL_PriorCoverage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72092" y="2432303"/>
            <a:ext cx="157276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72092" y="2423160"/>
            <a:ext cx="15727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PL_ClaimHistory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23760" y="2798063"/>
            <a:ext cx="1656892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60" y="2788920"/>
            <a:ext cx="16568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PL_MaxEngagement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23760" y="3346703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70064" y="3346703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ROUTING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23760" y="377647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43216" y="3730752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All Professional Liability Intake-specific underwriting questions answered.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43216" y="4096512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Risk Scoring Engine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23760" y="447141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43216" y="4425696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If this was one policy in a bundle, return to N20 for next policy.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43216" y="4791456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Bundle Loop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23760" y="5166359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43216" y="5120640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Caller mentions a past claim, loss, or hardship requiring empathy turn.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43216" y="5486400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Empathy Listener (Global)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Lines of Business — Intake   ·   48/98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Homeowners Intake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CONVERSATION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node[33]  ·  node-1778219286240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6446520" cy="5010912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6117336" cy="310896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63040"/>
            <a:ext cx="5843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THIS NODE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5989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Line-of-business intake — collects underwriting data for this policy.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8757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Asks one question at a time, confirming each answer warmly.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57073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502152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Risk drivers: dwelling value, age, construction, hazards and claims set the rate.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426567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97096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Empathy-first acknowledgements; global tone rules apply.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686300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617720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Exits to its extraction node, then risk scoring or the bundle loop.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1298448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007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70064" y="1298448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INSURA SAYS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3760" y="1664207"/>
            <a:ext cx="4416552" cy="822960"/>
          </a:xfrm>
          <a:prstGeom prst="roundRect">
            <a:avLst>
              <a:gd name="adj" fmla="val 6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88352" y="1664207"/>
            <a:ext cx="410565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22303F"/>
                </a:solidFill>
                <a:latin typeface="Calibri"/>
              </a:rPr>
              <a:t>"For Homeowners I'll need details about the home."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2688336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70064" y="2688336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EXIT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23760" y="3118103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43216" y="3072384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after the exchange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3216" y="3255264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Extract — Homeowners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Lines of Business — Intake   ·   49/98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Extract — Homeowners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VARIABLE 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node[34]  ·  node-1778219313344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6446520" cy="5010912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6117336" cy="310896"/>
          </a:xfrm>
          <a:prstGeom prst="roundRect">
            <a:avLst>
              <a:gd name="adj" fmla="val 12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63040"/>
            <a:ext cx="5843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THIS NODE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5989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Silently captures 8 structured variable(s) from the preceding exchange, then routes the call.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8757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Confirmed values become structured data for pricing, validation and backend events.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57073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502152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Logic stays separate from language — extraction never speaks to the caller.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426567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97096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Branches the call across 3 paths (see routing).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298448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0064" y="1298448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VARIABLES CAPTURED · 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1700784"/>
            <a:ext cx="1825142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1691639"/>
            <a:ext cx="182514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HO_PropertyAddress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0342" y="1700784"/>
            <a:ext cx="1656892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0342" y="1691639"/>
            <a:ext cx="16568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HO_DwellingValue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2066543"/>
            <a:ext cx="1320393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2057400"/>
            <a:ext cx="132039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HO_YearBuilt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35593" y="2066543"/>
            <a:ext cx="1909267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35593" y="2057400"/>
            <a:ext cx="190926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HO_ConstructionType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23760" y="2432303"/>
            <a:ext cx="1656892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0" y="2423160"/>
            <a:ext cx="16568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HO_SquareFootage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72092" y="2432303"/>
            <a:ext cx="1152144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72092" y="2423160"/>
            <a:ext cx="11521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HO_Hazards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23760" y="2798063"/>
            <a:ext cx="157276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60" y="2788920"/>
            <a:ext cx="15727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HO_ClaimHistory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87968" y="2798063"/>
            <a:ext cx="1825142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87968" y="2788920"/>
            <a:ext cx="182514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HO_SpecialFeatures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23760" y="3346703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70064" y="3346703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ROUTING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23760" y="377647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43216" y="3730752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All Homeowners Intake-specific underwriting questions answered.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43216" y="4096512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Risk Scoring Engine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23760" y="447141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43216" y="4425696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If this was one policy in a bundle, return to N20 for next policy.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43216" y="4791456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Bundle Loop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23760" y="5166359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43216" y="5120640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Caller mentions a past claim, loss, or hardship requiring empathy turn.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43216" y="5486400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Empathy Listener (Global)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Lines of Business — Intake   ·   50/98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Personal Auto Intake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CONVERSATION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node[35]  ·  node-1778219570368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6446520" cy="5010912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6117336" cy="310896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63040"/>
            <a:ext cx="5843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THIS NODE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5989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Line-of-business intake — collects underwriting data for this policy.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8757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Asks one question at a time, confirming each answer warmly.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57073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502152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Risk drivers: mileage, use type, garaging and driver list drive pricing.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426567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97096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Empathy-first acknowledgements; global tone rules apply.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686300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617720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Exits to its extraction node, then risk scoring or the bundle loop.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1298448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007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70064" y="1298448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INSURA SAYS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3760" y="1664207"/>
            <a:ext cx="4416552" cy="822960"/>
          </a:xfrm>
          <a:prstGeom prst="roundRect">
            <a:avLst>
              <a:gd name="adj" fmla="val 6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88352" y="1664207"/>
            <a:ext cx="410565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22303F"/>
                </a:solidFill>
                <a:latin typeface="Calibri"/>
              </a:rPr>
              <a:t>"For your Auto policy — details on the vehicles and drivers."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2688336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70064" y="2688336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EXIT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23760" y="3118103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43216" y="3072384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after the exchange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3216" y="3255264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Extract — Personal Auto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Lines of Business — Intake   ·   51/98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Extract — Personal Auto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VARIABLE 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node[36]  ·  node-1778219600046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6446520" cy="5010912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6117336" cy="310896"/>
          </a:xfrm>
          <a:prstGeom prst="roundRect">
            <a:avLst>
              <a:gd name="adj" fmla="val 12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63040"/>
            <a:ext cx="5843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THIS NODE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5989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Silently captures 8 structured variable(s) from the preceding exchange, then routes the call.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8757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Confirmed values become structured data for pricing, validation and backend events.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57073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502152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Logic stays separate from language — extraction never speaks to the caller.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426567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97096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Branches the call across 3 paths (see routing).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298448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0064" y="1298448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VARIABLES CAPTURED · 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1700784"/>
            <a:ext cx="157276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1691639"/>
            <a:ext cx="15727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PA_VehicleCount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87968" y="1700784"/>
            <a:ext cx="1488643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87968" y="1691639"/>
            <a:ext cx="148864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PA_VehicleList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2066543"/>
            <a:ext cx="1488643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2057400"/>
            <a:ext cx="148864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PA_DriverCount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03843" y="2066543"/>
            <a:ext cx="140451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03843" y="2057400"/>
            <a:ext cx="140451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PA_DriverList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23760" y="2432303"/>
            <a:ext cx="1656892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0" y="2423160"/>
            <a:ext cx="16568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PA_AnnualMileage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72092" y="2432303"/>
            <a:ext cx="1152144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72092" y="2423160"/>
            <a:ext cx="11521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PA_UseType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23760" y="2798063"/>
            <a:ext cx="1741017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60" y="2788920"/>
            <a:ext cx="174101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PA_GarageLocation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56217" y="2798063"/>
            <a:ext cx="1656892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6217" y="2788920"/>
            <a:ext cx="16568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PA_CoveragePrefs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23760" y="3346703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70064" y="3346703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ROUTING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23760" y="377647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43216" y="3730752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All Personal Auto Intake-specific underwriting questions answered.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43216" y="4096512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Risk Scoring Engine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23760" y="447141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43216" y="4425696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If this was one policy in a bundle, return to N20 for next policy.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43216" y="4791456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Bundle Loop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23760" y="5166359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43216" y="5120640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Caller mentions a past claim, loss, or hardship requiring empathy turn.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43216" y="5486400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Empathy Listener (Global)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Lines of Business — Intake   ·   52/98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Dwelling Fire Intake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CONVERSATION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node[37]  ·  node-1778220119852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6446520" cy="5010912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6117336" cy="310896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63040"/>
            <a:ext cx="5843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THIS NODE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5989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Line-of-business intake — collects underwriting data for this policy.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8757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Asks one question at a time, confirming each answer warmly.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57073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502152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Risk drivers: occupancy, years as rental and tenant policies are captured.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426567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97096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Empathy-first acknowledgements; global tone rules apply.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686300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617720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Exits to its extraction node, then risk scoring or the bundle loop.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1298448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007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70064" y="1298448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INSURA SAYS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3760" y="1664207"/>
            <a:ext cx="4416552" cy="822960"/>
          </a:xfrm>
          <a:prstGeom prst="roundRect">
            <a:avLst>
              <a:gd name="adj" fmla="val 6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88352" y="1664207"/>
            <a:ext cx="410565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22303F"/>
                </a:solidFill>
                <a:latin typeface="Calibri"/>
              </a:rPr>
              <a:t>"Dwelling Fire is for rental / non-owner-occupied properties."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2688336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70064" y="2688336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EXIT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23760" y="3118103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43216" y="3072384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after the exchange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3216" y="3255264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Extract — Dwelling Fire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Lines of Business — Intake   ·   53/98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Extract — Dwelling Fire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VARIABLE 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node[38]  ·  node-1778220168752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6446520" cy="5010912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6117336" cy="310896"/>
          </a:xfrm>
          <a:prstGeom prst="roundRect">
            <a:avLst>
              <a:gd name="adj" fmla="val 12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63040"/>
            <a:ext cx="5843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THIS NODE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5989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Silently captures 9 structured variable(s) from the preceding exchange, then routes the call.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8757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Confirmed values become structured data for pricing, validation and backend events.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57073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502152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Logic stays separate from language — extraction never speaks to the caller.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426567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97096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Branches the call across 3 paths (see routing).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298448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0064" y="1298448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VARIABLES CAPTURED · 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1700784"/>
            <a:ext cx="1825142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1691639"/>
            <a:ext cx="182514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DF_PropertyAddress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0342" y="1700784"/>
            <a:ext cx="1656892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0342" y="1691639"/>
            <a:ext cx="16568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DF_DwellingValue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2066543"/>
            <a:ext cx="1825142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2057400"/>
            <a:ext cx="182514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DF_OccupancyStatus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0342" y="2066543"/>
            <a:ext cx="1656892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0342" y="2057400"/>
            <a:ext cx="16568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DF_YearsAsRental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23760" y="2432303"/>
            <a:ext cx="1320393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0" y="2423160"/>
            <a:ext cx="132039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DF_YearBuilt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35593" y="2432303"/>
            <a:ext cx="1909267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35593" y="2423160"/>
            <a:ext cx="190926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DF_ConstructionType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23760" y="2798063"/>
            <a:ext cx="1741017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60" y="2788920"/>
            <a:ext cx="174101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DF_TenantPolicies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56217" y="2798063"/>
            <a:ext cx="157276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6217" y="2788920"/>
            <a:ext cx="15727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DF_ClaimHistory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23760" y="3163823"/>
            <a:ext cx="2077516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23760" y="3154679"/>
            <a:ext cx="207751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DF_OwnershipStructure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23760" y="3712463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70064" y="3712463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ROUTING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23760" y="4142231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43216" y="4096511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All Dwelling Fire Intake-specific underwriting questions answered.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43216" y="4462272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Risk Scoring Engine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23760" y="4837175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43216" y="4791455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If this was one policy in a bundle, return to N20 for next policy.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43216" y="5157216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Bundle Loop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23760" y="5532119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43216" y="5486399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Caller mentions a past claim, loss, or hardship requiring empathy turn.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43216" y="5852159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Empathy Listener (Global)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Lines of Business — Intake   ·   54/98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Farmowners Intake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CONVERSATION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node[39]  ·  node-1778220448255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6446520" cy="5010912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6117336" cy="310896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63040"/>
            <a:ext cx="5843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THIS NODE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5989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Line-of-business intake — collects underwriting data for this policy.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8757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Asks one question at a time, confirming each answer warmly.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57073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502152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Risk drivers: acreage, operation type, livestock value and direct sales matter.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426567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97096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Empathy-first acknowledgements; global tone rules apply.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686300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617720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Exits to its extraction node, then risk scoring or the bundle loop.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1298448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007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70064" y="1298448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INSURA SAYS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3760" y="1664207"/>
            <a:ext cx="4416552" cy="822960"/>
          </a:xfrm>
          <a:prstGeom prst="roundRect">
            <a:avLst>
              <a:gd name="adj" fmla="val 6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88352" y="1664207"/>
            <a:ext cx="410565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22303F"/>
                </a:solidFill>
                <a:latin typeface="Calibri"/>
              </a:rPr>
              <a:t>"Farmowners covers home, farm operations and equipment together."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2688336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70064" y="2688336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EXIT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23760" y="3118103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43216" y="3072384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after the exchange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3216" y="3255264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Extract — Farmowners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Lines of Business — Intake   ·   55/98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Extract — Farmowners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VARIABLE 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node[41]  ·  node-1778220501527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6446520" cy="5010912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6117336" cy="310896"/>
          </a:xfrm>
          <a:prstGeom prst="roundRect">
            <a:avLst>
              <a:gd name="adj" fmla="val 12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63040"/>
            <a:ext cx="5843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THIS NODE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5989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Silently captures 9 structured variable(s) from the preceding exchange, then routes the call.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8757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Confirmed values become structured data for pricing, validation and backend events.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57073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502152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Logic stays separate from language — extraction never speaks to the caller.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426567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97096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Branches the call across 3 paths (see routing).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298448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0064" y="1298448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VARIABLES CAPTURED · 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1700784"/>
            <a:ext cx="1825142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1691639"/>
            <a:ext cx="182514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FO_PropertyAddress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0342" y="1700784"/>
            <a:ext cx="1152144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0342" y="1691639"/>
            <a:ext cx="11521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FO_Acreage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2066543"/>
            <a:ext cx="1656892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2057400"/>
            <a:ext cx="16568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FO_OperationType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092" y="2066543"/>
            <a:ext cx="1656892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72092" y="2057400"/>
            <a:ext cx="16568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FO_DwellingValue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23760" y="2432303"/>
            <a:ext cx="1741017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0" y="2423160"/>
            <a:ext cx="174101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FO_EquipmentValue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56217" y="2432303"/>
            <a:ext cx="1741017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56217" y="2423160"/>
            <a:ext cx="174101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FO_LivestockValue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23760" y="2798063"/>
            <a:ext cx="1656892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60" y="2788920"/>
            <a:ext cx="16568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FO_FarmEmployees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72092" y="2798063"/>
            <a:ext cx="1488643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72092" y="2788920"/>
            <a:ext cx="148864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FO_LossHistory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23760" y="3163823"/>
            <a:ext cx="1488643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23760" y="3154679"/>
            <a:ext cx="148864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FO_DirectSales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23760" y="3712463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70064" y="3712463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ROUTING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23760" y="4142231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43216" y="4096511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All Farmowners Intake-specific underwriting questions answered.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43216" y="4462272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Risk Scoring Engine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23760" y="4837175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43216" y="4791455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If this was one policy in a bundle, return to N20 for next policy.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43216" y="5157216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Bundle Loop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23760" y="5532119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43216" y="5486399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Caller mentions a past claim, loss, or hardship requiring empathy turn.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43216" y="5852159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Empathy Listener (Global)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Lines of Business — Intake   ·   56/98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286000"/>
            <a:ext cx="1645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000" b="1" i="0">
                <a:solidFill>
                  <a:srgbClr val="00A896"/>
                </a:solidFill>
                <a:latin typeface="Calibr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395728"/>
            <a:ext cx="8961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Bundle 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22576" y="3429000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EBCCB"/>
                </a:solidFill>
                <a:latin typeface="Calibri"/>
              </a:rPr>
              <a:t>2 node(s)  ·  Bundle Loop · Extract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510528"/>
            <a:ext cx="3044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E8EA0"/>
                </a:solidFill>
                <a:latin typeface="Calibri"/>
              </a:rPr>
              <a:t>Bundle Orchestration   ·   57/98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Bundle Loop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CONVERSATION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node[40]  ·  node-1778220495147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6446520" cy="5010912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6117336" cy="310896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63040"/>
            <a:ext cx="5843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THIS NODE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5989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Bundle loop — works through a multi-policy queue one line at a time.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8757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Reads BundleQueue and collects each policy's intake in turn, carrying shared data over.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57073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502152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First-iteration framing sets expectations; subsequent loops are brisk.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426567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97096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When the queue empties, control passes to Risk Scoring.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298448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0064" y="1298448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EXIT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23760" y="172821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43216" y="1682495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after the exchange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43216" y="1865376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Extract — Bundle Router  ⟶ ROUTER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Bundle Orchestration   ·   58/98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Extract — Bundle Router  ⟶ ROUTER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VARIABLE 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node[42]  ·  node-1778220885363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11091672" cy="1078992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408176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303F"/>
                </a:solidFill>
                <a:latin typeface="Calibri"/>
              </a:rPr>
              <a:t>Silently captures 2 structured variable(s) from the preceding exchange, then routes the call.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83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2A4A"/>
                </a:solidFill>
                <a:latin typeface="Calibri"/>
              </a:rPr>
              <a:t>Captures: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1865376"/>
            <a:ext cx="1303020" cy="256032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1856232"/>
            <a:ext cx="13030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E72"/>
                </a:solidFill>
                <a:latin typeface="Calibri"/>
              </a:rPr>
              <a:t>CurrentPolicy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4972" y="1865376"/>
            <a:ext cx="1069848" cy="256032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4972" y="1856232"/>
            <a:ext cx="106984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E72"/>
                </a:solidFill>
                <a:latin typeface="Calibri"/>
              </a:rPr>
              <a:t>BundleData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505456"/>
            <a:ext cx="11091672" cy="310896"/>
          </a:xfrm>
          <a:prstGeom prst="roundRect">
            <a:avLst>
              <a:gd name="adj" fmla="val 12000"/>
            </a:avLst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505456"/>
            <a:ext cx="108173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ROUTING — 12 branch(es)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94436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926080"/>
            <a:ext cx="7680960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{BundleQueue} is empty — all bundled policies have completed intake.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926080"/>
            <a:ext cx="3227832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850" b="1" i="0">
                <a:solidFill>
                  <a:srgbClr val="1B2A4A"/>
                </a:solidFill>
                <a:latin typeface="Calibri"/>
              </a:rPr>
              <a:t>Risk Scoring Engine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19582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177540"/>
            <a:ext cx="7680960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CurrentPolicy is 'Workers' Compensation'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177540"/>
            <a:ext cx="3227832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850" b="1" i="0">
                <a:solidFill>
                  <a:srgbClr val="1B2A4A"/>
                </a:solidFill>
                <a:latin typeface="Calibri"/>
              </a:rPr>
              <a:t>Workers' Compensation Intake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4472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429000"/>
            <a:ext cx="7680960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CurrentPolicy is 'General Liability'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429000"/>
            <a:ext cx="3227832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850" b="1" i="0">
                <a:solidFill>
                  <a:srgbClr val="1B2A4A"/>
                </a:solidFill>
                <a:latin typeface="Calibri"/>
              </a:rPr>
              <a:t>General Liability Intake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69874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3680460"/>
            <a:ext cx="7680960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CurrentPolicy is 'Commercial Auto'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680460"/>
            <a:ext cx="3227832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850" b="1" i="0">
                <a:solidFill>
                  <a:srgbClr val="1B2A4A"/>
                </a:solidFill>
                <a:latin typeface="Calibri"/>
              </a:rPr>
              <a:t>Commercial Auto Intake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95020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3931920"/>
            <a:ext cx="7680960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CurrentPolicy is 'Commercial Property'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931920"/>
            <a:ext cx="3227832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850" b="1" i="0">
                <a:solidFill>
                  <a:srgbClr val="1B2A4A"/>
                </a:solidFill>
                <a:latin typeface="Calibri"/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20166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4183380"/>
            <a:ext cx="7680960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CurrentPolicy is 'Umbrella / Excess Liability'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183380"/>
            <a:ext cx="3227832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850" b="1" i="0">
                <a:solidFill>
                  <a:srgbClr val="1B2A4A"/>
                </a:solidFill>
                <a:latin typeface="Calibri"/>
              </a:rPr>
              <a:t>Umbrella / Excess Liability Intake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45312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4434840"/>
            <a:ext cx="7680960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CurrentPolicy is 'BOP'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4434840"/>
            <a:ext cx="3227832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850" b="1" i="0">
                <a:solidFill>
                  <a:srgbClr val="1B2A4A"/>
                </a:solidFill>
                <a:latin typeface="Calibri"/>
              </a:rPr>
              <a:t>Business Owner's Policy (BOP) Intake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7045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8096" y="4686300"/>
            <a:ext cx="7680960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CurrentPolicy is 'Professional Liability'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4686300"/>
            <a:ext cx="3227832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850" b="1" i="0">
                <a:solidFill>
                  <a:srgbClr val="1B2A4A"/>
                </a:solidFill>
                <a:latin typeface="Calibri"/>
              </a:rPr>
              <a:t>Professional Liability Intake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495604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" y="4937760"/>
            <a:ext cx="7680960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CurrentPolicy is 'Homeowners'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4937760"/>
            <a:ext cx="3227832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850" b="1" i="0">
                <a:solidFill>
                  <a:srgbClr val="1B2A4A"/>
                </a:solidFill>
                <a:latin typeface="Calibri"/>
              </a:rPr>
              <a:t>Homeowners Intake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20750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8096" y="5189220"/>
            <a:ext cx="7680960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CurrentPolicy is 'Personal Auto'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5189220"/>
            <a:ext cx="3227832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850" b="1" i="0">
                <a:solidFill>
                  <a:srgbClr val="1B2A4A"/>
                </a:solidFill>
                <a:latin typeface="Calibri"/>
              </a:rPr>
              <a:t>Personal Auto Intake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545896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8096" y="5440680"/>
            <a:ext cx="7680960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CurrentPolicy is 'Dwelling Fire'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0" y="5440680"/>
            <a:ext cx="3227832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850" b="1" i="0">
                <a:solidFill>
                  <a:srgbClr val="1B2A4A"/>
                </a:solidFill>
                <a:latin typeface="Calibri"/>
              </a:rPr>
              <a:t>Dwelling Fire Intake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571042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68096" y="5692140"/>
            <a:ext cx="7680960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CurrentPolicy is 'Farmowners'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0" y="5692140"/>
            <a:ext cx="3227832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850" b="1" i="0">
                <a:solidFill>
                  <a:srgbClr val="1B2A4A"/>
                </a:solidFill>
                <a:latin typeface="Calibri"/>
              </a:rPr>
              <a:t>Farmowners Intake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Bundle Orchestration   ·   59/98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286000"/>
            <a:ext cx="1645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000" b="1" i="0">
                <a:solidFill>
                  <a:srgbClr val="00A896"/>
                </a:solidFill>
                <a:latin typeface="Calibr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395728"/>
            <a:ext cx="8961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Risk · Quote ·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22576" y="3429000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EBCCB"/>
                </a:solidFill>
                <a:latin typeface="Calibri"/>
              </a:rPr>
              <a:t>6 node(s)  ·  Risk Scoring Engine · Extract · Quote Estimate · Extract · Mid-Call Summary &amp; Validation  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510528"/>
            <a:ext cx="3044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E8EA0"/>
                </a:solidFill>
                <a:latin typeface="Calibri"/>
              </a:rPr>
              <a:t>Risk · Quote · Validation   ·   60/98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Risk Scoring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CONVERSATION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node[43]  ·  node-1778221102705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6446520" cy="5010912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6117336" cy="310896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63040"/>
            <a:ext cx="5843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THIS NODE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5989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Silent risk-scoring engine — grades the profile Low / Medium / High.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8757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Inputs: every line-specific risk flag + prior cancellation + asset bracket.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57073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502152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Low = clean history; Medium = 1–2 flags; High = 3+ flags OR a hard flag (DUI, EMR&gt;1.20, off-appetite, multiple claims).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453999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471416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High risk sets AlertFlag and triggers a senior-underwriting notification downstream.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5234940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5166359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Never says 'low/high risk' to the caller — translates to natural, non-clinical language.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1298448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007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70064" y="1298448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INSURA SAYS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3760" y="1664207"/>
            <a:ext cx="4416552" cy="822960"/>
          </a:xfrm>
          <a:prstGeom prst="roundRect">
            <a:avLst>
              <a:gd name="adj" fmla="val 6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88352" y="1664207"/>
            <a:ext cx="410565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22303F"/>
                </a:solidFill>
                <a:latin typeface="Calibri"/>
              </a:rPr>
              <a:t>"Your profile looks really clean — that should put you in our most competitive pricing tier." (HIGH → "a couple of items our underwriting team will want to look at…")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2688336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70064" y="2688336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EXIT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23760" y="3118103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43216" y="3072384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after the exchange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3216" y="3255264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Extract — Risk Level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Risk · Quote · Validation   ·   61/98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Extract — Risk Level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VARIABLE 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node[44]  ·  node-1778222266954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6446520" cy="5010912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6117336" cy="310896"/>
          </a:xfrm>
          <a:prstGeom prst="roundRect">
            <a:avLst>
              <a:gd name="adj" fmla="val 12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63040"/>
            <a:ext cx="5843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THIS NODE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5989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Silently captures 3 structured variable(s) from the preceding exchange, then routes the call.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8757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Confirmed values become structured data for pricing, validation and backend events.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57073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502152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Logic stays separate from language — extraction never speaks to the caller.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0" y="1298448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70064" y="1298448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VARIABLES CAPTURED · 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700784"/>
            <a:ext cx="1068019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1691639"/>
            <a:ext cx="106801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RiskLevel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83219" y="1700784"/>
            <a:ext cx="1488643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3219" y="1691639"/>
            <a:ext cx="148864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RiskFactorList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63302" y="1700784"/>
            <a:ext cx="1068019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63302" y="1691639"/>
            <a:ext cx="106801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AlertFlag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2249424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70064" y="2249424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EXIT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23760" y="2679191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43216" y="2633472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Risk level computed and {RiskLevel} variable set.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3216" y="2999232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Quote Estimate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Risk · Quote · Validation   ·   62/98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Quote Estimate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CONVERSATION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node[45]  ·  node-1778222523300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6446520" cy="5010912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6117336" cy="310896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63040"/>
            <a:ext cx="5843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THIS NODE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5989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Computes and delivers a pre-quote premium range (never $0).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8757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Base rates (annual): Auto 1,200 · Home 1,800 · Farm 3,000 · Dwelling Fire 900 · Commercial 2,400 · Umbrella 600.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57073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502152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Risk multiplier: Low ×0.85 · Medium ×1.05 · High ×1.35; range = base×mult×0.90 … ×1.15.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426567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97096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Applies a bundle discount when BundleFlag is set; unmatched policies fall back to a default rate and are flagged.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298448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0064" y="1298448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EXIT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23760" y="172821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43216" y="1682495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after the exchange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43216" y="1865376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Extract — Quote Range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Risk · Quote · Validation   ·   63/98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Extract — Quote Range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VARIABLE 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node[46]  ·  node-1778222602021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6446520" cy="5010912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6117336" cy="310896"/>
          </a:xfrm>
          <a:prstGeom prst="roundRect">
            <a:avLst>
              <a:gd name="adj" fmla="val 12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63040"/>
            <a:ext cx="5843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THIS NODE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5989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Silently captures 4 structured variable(s) from the preceding exchange, then routes the call.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8757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Confirmed values become structured data for pricing, validation and backend events.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57073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502152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Logic stays separate from language — extraction never speaks to the caller.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426567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97096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Branches the call across 2 paths (see routing).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298448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0064" y="1298448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VARIABLES CAPTURED · 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1700784"/>
            <a:ext cx="983894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1691639"/>
            <a:ext cx="98389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QuoteLow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99094" y="1700784"/>
            <a:ext cx="1068019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99094" y="1691639"/>
            <a:ext cx="106801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QuoteHigh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58553" y="1700784"/>
            <a:ext cx="1488643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58553" y="1691639"/>
            <a:ext cx="148864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QuoteFrequency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23760" y="2066543"/>
            <a:ext cx="1993391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0" y="2057400"/>
            <a:ext cx="199339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BundleSavingsPercent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23760" y="2615183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70064" y="2615183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ROUTING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23760" y="3044951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43216" y="2999231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Quote range delivered and caller has acknowledged or asked a follow-up which has been addressed.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3216" y="3547871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Mid-Call Summary &amp; Validation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23760" y="392277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43216" y="3877056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Caller asks a coverage question or wants explanation of inclusions/exclusions before proceeding.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43216" y="4425696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Agent / Underwriter Support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Risk · Quote · Validation   ·   64/98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Mid-Call Summary &amp; Validation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CONVERSATION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node[47]  ·  node-1778222696230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6446520" cy="5010912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6117336" cy="310896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63040"/>
            <a:ext cx="5843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THIS NODE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5989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Mandatory read-back — validates every captured field before the draft is generated.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8757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Reads back profile, contact and line-specific data for explicit confirmation.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57073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502152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Any correction routes straight back to the exact intake node that owns that data.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426567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97096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Only a clean confirmation advances to Draft Policy Generation.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298448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007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0064" y="1298448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INSURA SAYS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1664207"/>
            <a:ext cx="4416552" cy="822960"/>
          </a:xfrm>
          <a:prstGeom prst="roundRect">
            <a:avLst>
              <a:gd name="adj" fmla="val 6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88352" y="1664207"/>
            <a:ext cx="410565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22303F"/>
                </a:solidFill>
                <a:latin typeface="Calibri"/>
              </a:rPr>
              <a:t>"Before I put the summary together, let me read back what I have to make sure everything's right."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3760" y="2688336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0064" y="2688336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EXIT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3118103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43216" y="3072384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after the exchange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43216" y="3255264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Extract — Validation  ⟶ ROUTER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Risk · Quote · Validation   ·   65/98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Extract — Validation  ⟶ ROUTER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VARIABLE 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node[48]  ·  node-1778222997162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11091672" cy="1078992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408176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303F"/>
                </a:solidFill>
                <a:latin typeface="Calibri"/>
              </a:rPr>
              <a:t>Silently captures 1 structured variable(s) from the preceding exchange, then routes the call.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83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2A4A"/>
                </a:solidFill>
                <a:latin typeface="Calibri"/>
              </a:rPr>
              <a:t>Captures: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1865376"/>
            <a:ext cx="1769364" cy="256032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1856232"/>
            <a:ext cx="176936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E72"/>
                </a:solidFill>
                <a:latin typeface="Calibri"/>
              </a:rPr>
              <a:t>ValidationConfirmed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505456"/>
            <a:ext cx="11091672" cy="310896"/>
          </a:xfrm>
          <a:prstGeom prst="roundRect">
            <a:avLst>
              <a:gd name="adj" fmla="val 12000"/>
            </a:avLst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505456"/>
            <a:ext cx="108173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ROUTING — 14 branch(es)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4436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2926080"/>
            <a:ext cx="7680960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Caller has confirmed all captured information is correct.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926080"/>
            <a:ext cx="3227832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850" b="1" i="0">
                <a:solidFill>
                  <a:srgbClr val="1B2A4A"/>
                </a:solidFill>
                <a:latin typeface="Calibri"/>
              </a:rPr>
              <a:t>Draft Policy Generation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19582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3177540"/>
            <a:ext cx="7680960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Caller wants to correct profile data (age, address, etc.)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177540"/>
            <a:ext cx="3227832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850" b="1" i="0">
                <a:solidFill>
                  <a:srgbClr val="1B2A4A"/>
                </a:solidFill>
                <a:latin typeface="Calibri"/>
              </a:rPr>
              <a:t>Profile Intake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4472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3429000"/>
            <a:ext cx="7680960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Caller wants to correct contact info (name, email, phone)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429000"/>
            <a:ext cx="3227832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850" b="1" i="0">
                <a:solidFill>
                  <a:srgbClr val="1B2A4A"/>
                </a:solidFill>
                <a:latin typeface="Calibri"/>
              </a:rPr>
              <a:t>Phase 1 — Contact Information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69874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680460"/>
            <a:ext cx="7680960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Caller wants to correct Workers' Comp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680460"/>
            <a:ext cx="3227832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850" b="1" i="0">
                <a:solidFill>
                  <a:srgbClr val="1B2A4A"/>
                </a:solidFill>
                <a:latin typeface="Calibri"/>
              </a:rPr>
              <a:t>Workers' Compensation Intake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95020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3931920"/>
            <a:ext cx="7680960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Caller wants to correct General Liability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931920"/>
            <a:ext cx="3227832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850" b="1" i="0">
                <a:solidFill>
                  <a:srgbClr val="1B2A4A"/>
                </a:solidFill>
                <a:latin typeface="Calibri"/>
              </a:rPr>
              <a:t>General Liability Intake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20166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4183380"/>
            <a:ext cx="7680960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Caller wants to correct Commercial Auto 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4183380"/>
            <a:ext cx="3227832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850" b="1" i="0">
                <a:solidFill>
                  <a:srgbClr val="1B2A4A"/>
                </a:solidFill>
                <a:latin typeface="Calibri"/>
              </a:rPr>
              <a:t>Commercial Auto Intake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45312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6" y="4434840"/>
            <a:ext cx="7680960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Caller wants to correct Commercial Property 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434840"/>
            <a:ext cx="3227832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850" b="1" i="0">
                <a:solidFill>
                  <a:srgbClr val="1B2A4A"/>
                </a:solidFill>
                <a:latin typeface="Calibri"/>
              </a:rPr>
              <a:t>Commercial Property Intake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7045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6" y="4686300"/>
            <a:ext cx="7680960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Caller wants to correct Umbrella data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4686300"/>
            <a:ext cx="3227832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850" b="1" i="0">
                <a:solidFill>
                  <a:srgbClr val="1B2A4A"/>
                </a:solidFill>
                <a:latin typeface="Calibri"/>
              </a:rPr>
              <a:t>Umbrella / Excess Liability Intake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95604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8096" y="4937760"/>
            <a:ext cx="7680960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Caller wants to correct BOP data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4937760"/>
            <a:ext cx="3227832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850" b="1" i="0">
                <a:solidFill>
                  <a:srgbClr val="1B2A4A"/>
                </a:solidFill>
                <a:latin typeface="Calibri"/>
              </a:rPr>
              <a:t>Business Owner's Policy (BOP) Intake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20750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8096" y="5189220"/>
            <a:ext cx="7680960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Caller wants to correct Professional Liability data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5189220"/>
            <a:ext cx="3227832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850" b="1" i="0">
                <a:solidFill>
                  <a:srgbClr val="1B2A4A"/>
                </a:solidFill>
                <a:latin typeface="Calibri"/>
              </a:rPr>
              <a:t>Professional Liability Intake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45896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8096" y="5440680"/>
            <a:ext cx="7680960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Caller wants to correct Homeowners data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5440680"/>
            <a:ext cx="3227832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850" b="1" i="0">
                <a:solidFill>
                  <a:srgbClr val="1B2A4A"/>
                </a:solidFill>
                <a:latin typeface="Calibri"/>
              </a:rPr>
              <a:t>Homeowners Intake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571042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8096" y="5692140"/>
            <a:ext cx="7680960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Caller wants to correct Personal Auto data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5692140"/>
            <a:ext cx="3227832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850" b="1" i="0">
                <a:solidFill>
                  <a:srgbClr val="1B2A4A"/>
                </a:solidFill>
                <a:latin typeface="Calibri"/>
              </a:rPr>
              <a:t>Personal Auto Intake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9618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8096" y="5943600"/>
            <a:ext cx="7680960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Caller wants to correct Dwelling Fire data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0" y="5943600"/>
            <a:ext cx="3227832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850" b="1" i="0">
                <a:solidFill>
                  <a:srgbClr val="1B2A4A"/>
                </a:solidFill>
                <a:latin typeface="Calibri"/>
              </a:rPr>
              <a:t>Dwelling Fire Intake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621334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8096" y="6195060"/>
            <a:ext cx="7680960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Caller wants to correct Farmowners data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0" y="6195060"/>
            <a:ext cx="3227832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850" b="1" i="0">
                <a:solidFill>
                  <a:srgbClr val="1B2A4A"/>
                </a:solidFill>
                <a:latin typeface="Calibri"/>
              </a:rPr>
              <a:t>Farmowners Intake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Risk · Quote · Validation   ·   66/98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286000"/>
            <a:ext cx="1645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000" b="1" i="0">
                <a:solidFill>
                  <a:srgbClr val="00A896"/>
                </a:solidFill>
                <a:latin typeface="Calibri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395728"/>
            <a:ext cx="8961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Draft · Email ·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22576" y="3429000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EBCCB"/>
                </a:solidFill>
                <a:latin typeface="Calibri"/>
              </a:rPr>
              <a:t>4 node(s)  ·  Draft Policy Generation · Send Email (bridge) · Extract · Close 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510528"/>
            <a:ext cx="3044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E8EA0"/>
                </a:solidFill>
                <a:latin typeface="Calibri"/>
              </a:rPr>
              <a:t>Draft · Email · Close   ·   67/98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Draft Policy Generation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CONVERSATION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node[49]  ·  node-1778223089293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6446520" cy="5010912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6117336" cy="310896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63040"/>
            <a:ext cx="5843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THIS NODE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5989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Silently composes the structured draft-policy summary object.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8757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One bridging line to the caller ('Putting that together…'); generation itself is silent.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57073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502152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Assembles policy, profile, quote range and risk into a draft record for emailing.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0" y="1298448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70064" y="1298448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EXIT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0" y="172821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43216" y="1682495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after the exchange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43216" y="1865376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Extract — Draft 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Draft · Email · Close   ·   68/98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Send Email (bridge)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CONVERSATION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node[50]  ·  node-1778223896187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6446520" cy="5010912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6117336" cy="310896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63040"/>
            <a:ext cx="5843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THIS NODE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5989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Delivers the single 'sending your draft' bridge line, then hands off to the email function.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8757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Speaks once, then transitions; the backend function node fires next.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57073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502152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No further speech after the bridge — avoids dead air over the API call.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0" y="1298448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70064" y="1298448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EXIT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0" y="172821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43216" y="1682495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DraftId is set and DraftSummary is 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43216" y="1865376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fn · Send New Quote Event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Draft · Email · Close   ·   69/98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Extract — Draft Id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VARIABLE 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node[51]  ·  node-1778223902708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6446520" cy="5010912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6117336" cy="310896"/>
          </a:xfrm>
          <a:prstGeom prst="roundRect">
            <a:avLst>
              <a:gd name="adj" fmla="val 12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63040"/>
            <a:ext cx="5843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THIS NODE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5989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Silently captures 2 structured variable(s) from the preceding exchange, then routes the call.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8757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Confirmed values become structured data for pricing, validation and backend events.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57073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502152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Logic stays separate from language — extraction never speaks to the caller.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0" y="1298448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70064" y="1298448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VARIABLES CAPTURED ·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700784"/>
            <a:ext cx="1320393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1691639"/>
            <a:ext cx="132039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DraftSummary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35593" y="1700784"/>
            <a:ext cx="899769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35593" y="1691639"/>
            <a:ext cx="89976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DraftId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3760" y="2249424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0064" y="2249424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EXIT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2679191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43216" y="2633472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DraftSummary successfully composed AND DraftId generated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43216" y="2999232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Send Email (bridge)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Draft · Email · Close   ·   70/98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Close Call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CONVERSATION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node[52]  ·  node-1778224281682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6446520" cy="5010912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6117336" cy="310896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63040"/>
            <a:ext cx="5843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THIS NODE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5989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Closes the call with the correct variant for how it was reached.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8757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Five variants: standard · high-risk · callback/escalation · policy-lookup · policy-update.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57073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502152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Personalises with the caller's name; handles any last-minute question before goodbye.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426567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97096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Routes to End Call.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298448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0064" y="1298448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EXIT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23760" y="172821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43216" y="1682495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Close delivered.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43216" y="1865376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End Call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Draft · Email · Close   ·   71/98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286000"/>
            <a:ext cx="1645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000" b="1" i="0">
                <a:solidFill>
                  <a:srgbClr val="00A896"/>
                </a:solidFill>
                <a:latin typeface="Calibr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395728"/>
            <a:ext cx="8961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Policy Update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22576" y="3429000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EBCCB"/>
                </a:solidFill>
                <a:latin typeface="Calibri"/>
              </a:rPr>
              <a:t>2 node(s)  ·  Update Flow · Extract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510528"/>
            <a:ext cx="3044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E8EA0"/>
                </a:solidFill>
                <a:latin typeface="Calibri"/>
              </a:rPr>
              <a:t>Policy Update Path   ·   72/98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Update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CONVERSATION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node[53]  ·  node-1778224402387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6446520" cy="5010912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6117336" cy="310896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63040"/>
            <a:ext cx="5843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THIS NODE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5989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Policy-update path — captures the change and routes to a human; never a full intake.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8757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Auth gate first: requires AUTH_Verified = Yes before any dialogue.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57073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502152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Captures policyholder, policy number, change requested, details and effective date.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426567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97096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Pre-submit confirmation, then fires the policy-update event for an agent to action.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298448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0064" y="1298448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EXIT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23760" y="172821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43216" y="1682495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after the exchange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43216" y="1865376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Extract — Change Request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Policy Update Path   ·   73/98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Extract — Change Request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VARIABLE 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node[54]  ·  node-1778226659341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6446520" cy="5010912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6117336" cy="310896"/>
          </a:xfrm>
          <a:prstGeom prst="roundRect">
            <a:avLst>
              <a:gd name="adj" fmla="val 12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63040"/>
            <a:ext cx="5843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THIS NODE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5989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Silently captures 5 structured variable(s) from the preceding exchange, then routes the call.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8757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Confirmed values become structured data for pricing, validation and backend events.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57073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502152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Logic stays separate from language — extraction never speaks to the caller.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426567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97096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Branches the call across 3 paths (see routing).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298448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0064" y="1298448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VARIABLES CAPTURED · 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1700784"/>
            <a:ext cx="1993391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1691639"/>
            <a:ext cx="199339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UPD_PolicyHolderName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08592" y="1700784"/>
            <a:ext cx="1656892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08592" y="1691639"/>
            <a:ext cx="16568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UPD_PolicyNumber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2066543"/>
            <a:ext cx="1909267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2057400"/>
            <a:ext cx="190926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UPD_ChangeRequested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24467" y="2066543"/>
            <a:ext cx="1741017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24467" y="2057400"/>
            <a:ext cx="174101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UPD_ChangeDetails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23760" y="2432303"/>
            <a:ext cx="1825142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0" y="2423160"/>
            <a:ext cx="182514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UPD_EffectiveDate 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23760" y="2980944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70064" y="2980944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ROUTING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60" y="3410711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43216" y="3364991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AUTH_Verified is not "Yes" OR AUTH_PolicyNumber is empty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43216" y="3730752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N3a Customer Authentication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23760" y="410565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43216" y="4059936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AUTH_Verified is "Yes" 
AND UPD_PolicyNumber is set 
AND UPD_ChangeRequested is set 
AND UPD_ChangeDetails is set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43216" y="4608576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fn · Send Policy Update Event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23760" y="4983480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43216" y="4937760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Change involves cancellation, claim, or anything outside standard endorsement scope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43216" y="5303520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Escalation &amp; Callback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Policy Update Path   ·   74/98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286000"/>
            <a:ext cx="1645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000" b="1" i="0">
                <a:solidFill>
                  <a:srgbClr val="00A896"/>
                </a:solidFill>
                <a:latin typeface="Calibr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395728"/>
            <a:ext cx="8961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Authentication &amp; Policy Lookup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22576" y="3429000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EBCCB"/>
                </a:solidFill>
                <a:latin typeface="Calibri"/>
              </a:rPr>
              <a:t>4 node(s)  ·  N3a Customer Authentication · Extract · N27a Policy Lookup Mode · Extract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510528"/>
            <a:ext cx="3044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E8EA0"/>
                </a:solidFill>
                <a:latin typeface="Calibri"/>
              </a:rPr>
              <a:t>Authentication &amp; Policy Lookup   ·   75/98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N3a Customer Authentication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CONVERSATION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node[61]  ·  node-1778237281792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6446520" cy="5010912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6117336" cy="310896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63040"/>
            <a:ext cx="5843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THIS NODE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5989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Identity verification before any policy data is shared (customers and agents).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8757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Customers: policy number + last-4 phone against the reference table; 2 failed attempts → escalation.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57073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502152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Agents: WMIC agent code against the agent table; sets CallerType + display name.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426567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97096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Reuses CallIntent from N3 — never re-asks the verified caller their purpose.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298448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0064" y="1298448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EXIT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23760" y="172821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43216" y="1682495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after the exchange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43216" y="1865376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Extract — Auth Result  ⟶ ROUTER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Authentication &amp; Policy Lookup   ·   76/98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Extract — Auth Result  ⟶ ROUTER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VARIABLE 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node[62]  ·  node-1778237702270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11091672" cy="1078992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408176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303F"/>
                </a:solidFill>
                <a:latin typeface="Calibri"/>
              </a:rPr>
              <a:t>Silently captures 7 structured variable(s) from the preceding exchange, then routes the call.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83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2A4A"/>
                </a:solidFill>
                <a:latin typeface="Calibri"/>
              </a:rPr>
              <a:t>Captures: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1865376"/>
            <a:ext cx="1613916" cy="256032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1856232"/>
            <a:ext cx="161391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E72"/>
                </a:solidFill>
                <a:latin typeface="Calibri"/>
              </a:rPr>
              <a:t>AUTH_PolicyNumber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15868" y="1865376"/>
            <a:ext cx="2080260" cy="256032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5868" y="1856232"/>
            <a:ext cx="20802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E72"/>
                </a:solidFill>
                <a:latin typeface="Calibri"/>
              </a:rPr>
              <a:t>AUTH_VerificationFactor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1865376"/>
            <a:ext cx="1303020" cy="256032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1856232"/>
            <a:ext cx="13030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E72"/>
                </a:solidFill>
                <a:latin typeface="Calibri"/>
              </a:rPr>
              <a:t>AUTH_Verified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5452" y="1865376"/>
            <a:ext cx="1069848" cy="256032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5452" y="1856232"/>
            <a:ext cx="106984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E72"/>
                </a:solidFill>
                <a:latin typeface="Calibri"/>
              </a:rPr>
              <a:t>CallerType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8452" y="1865376"/>
            <a:ext cx="1380744" cy="256032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8452" y="1856232"/>
            <a:ext cx="138074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E72"/>
                </a:solidFill>
                <a:latin typeface="Calibri"/>
              </a:rPr>
              <a:t>AUTH_AgentCode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42348" y="1865376"/>
            <a:ext cx="1536192" cy="256032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42348" y="1856232"/>
            <a:ext cx="153619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E72"/>
                </a:solidFill>
                <a:latin typeface="Calibri"/>
              </a:rPr>
              <a:t>AgentDisplayName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28800" y="2194560"/>
            <a:ext cx="1380744" cy="256032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0" y="2185416"/>
            <a:ext cx="138074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E72"/>
                </a:solidFill>
                <a:latin typeface="Calibri"/>
              </a:rPr>
              <a:t>AuthMethodUsed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2505456"/>
            <a:ext cx="11091672" cy="310896"/>
          </a:xfrm>
          <a:prstGeom prst="roundRect">
            <a:avLst>
              <a:gd name="adj" fmla="val 12000"/>
            </a:avLst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2505456"/>
            <a:ext cx="108173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ROUTING — 3 branch(es)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94436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2926080"/>
            <a:ext cx="7680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2303F"/>
                </a:solidFill>
                <a:latin typeface="Calibri"/>
              </a:rPr>
              <a:t>AUTH_Verified is 'Yes' AND CallIntent is 'lookup'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926080"/>
            <a:ext cx="32278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50" b="1" i="0">
                <a:solidFill>
                  <a:srgbClr val="1B2A4A"/>
                </a:solidFill>
                <a:latin typeface="Calibri"/>
              </a:rPr>
              <a:t>N27a Policy Lookup Mode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255264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3236976"/>
            <a:ext cx="7680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2303F"/>
                </a:solidFill>
                <a:latin typeface="Calibri"/>
              </a:rPr>
              <a:t>AUTH_Verified is 'Yes' AND CallIntent is 'update'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236976"/>
            <a:ext cx="32278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50" b="1" i="0">
                <a:solidFill>
                  <a:srgbClr val="1B2A4A"/>
                </a:solidFill>
                <a:latin typeface="Calibri"/>
              </a:rPr>
              <a:t>Update Flow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566160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6" y="3547872"/>
            <a:ext cx="7680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2303F"/>
                </a:solidFill>
                <a:latin typeface="Calibri"/>
              </a:rPr>
              <a:t>AUTH_Verified is 'No' OR caller declined OR 2 failed attempts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3547872"/>
            <a:ext cx="32278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50" b="1" i="0">
                <a:solidFill>
                  <a:srgbClr val="1B2A4A"/>
                </a:solidFill>
                <a:latin typeface="Calibri"/>
              </a:rPr>
              <a:t>Escalation &amp; Callback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Authentication &amp; Policy Lookup   ·   77/98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N27a Policy Lookup Mode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CONVERSATION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node[63]  ·  node-1778241173428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6446520" cy="5010912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6117336" cy="310896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63040"/>
            <a:ext cx="5843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THIS NODE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5989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Authenticated policy-lookup — answers questions strictly about the caller's own policy.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8757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Reads the matched policy row (status, type, expiration) for the verified caller only.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57073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502152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Computes lapse days for expired policies and can pivot the caller into a fresh quote.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426567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97096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Tracks questions asked + data disclosed for audit; routes update requests to Update Flow.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298448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0064" y="1298448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EXIT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23760" y="172821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43216" y="1682495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after the exchange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43216" y="1865376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Extract — Lookup  ⟶ ROUTER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Authentication &amp; Policy Lookup   ·   78/98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Extract — Lookup  ⟶ ROUTER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VARIABLE 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node[64]  ·  node-1778241397748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11091672" cy="1078992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408176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303F"/>
                </a:solidFill>
                <a:latin typeface="Calibri"/>
              </a:rPr>
              <a:t>Silently captures 9 structured variable(s) from the preceding exchange, then routes the call.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83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2A4A"/>
                </a:solidFill>
                <a:latin typeface="Calibri"/>
              </a:rPr>
              <a:t>Captures: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1865376"/>
            <a:ext cx="1847088" cy="256032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1856232"/>
            <a:ext cx="18470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E72"/>
                </a:solidFill>
                <a:latin typeface="Calibri"/>
              </a:rPr>
              <a:t>LookupQuestionsAsked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39" y="1865376"/>
            <a:ext cx="1691640" cy="256032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1856232"/>
            <a:ext cx="16916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E72"/>
                </a:solidFill>
                <a:latin typeface="Calibri"/>
              </a:rPr>
              <a:t>LookedUpPolicyType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13831" y="1865376"/>
            <a:ext cx="1847088" cy="256032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13831" y="1856232"/>
            <a:ext cx="18470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E72"/>
                </a:solidFill>
                <a:latin typeface="Calibri"/>
              </a:rPr>
              <a:t>LookedUpCustomerName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34071" y="1865376"/>
            <a:ext cx="1847088" cy="256032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4071" y="1856232"/>
            <a:ext cx="18470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E72"/>
                </a:solidFill>
                <a:latin typeface="Calibri"/>
              </a:rPr>
              <a:t>LookedUpPolicyStatus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54311" y="1865376"/>
            <a:ext cx="2002536" cy="256032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54311" y="1856232"/>
            <a:ext cx="200253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E72"/>
                </a:solidFill>
                <a:latin typeface="Calibri"/>
              </a:rPr>
              <a:t>LookedUpExpirationDate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2194560"/>
            <a:ext cx="1769364" cy="256032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0" y="2185416"/>
            <a:ext cx="176936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E72"/>
                </a:solidFill>
                <a:latin typeface="Calibri"/>
              </a:rPr>
              <a:t>LookupDataDisclosed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71316" y="2194560"/>
            <a:ext cx="1769364" cy="256032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71316" y="2185416"/>
            <a:ext cx="176936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E72"/>
                </a:solidFill>
                <a:latin typeface="Calibri"/>
              </a:rPr>
              <a:t>LapseDaysCalculated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13832" y="2194560"/>
            <a:ext cx="1924812" cy="256032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13832" y="2185416"/>
            <a:ext cx="192481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E72"/>
                </a:solidFill>
                <a:latin typeface="Calibri"/>
              </a:rPr>
              <a:t>LookedUpCustomerEmail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11796" y="2194560"/>
            <a:ext cx="1924812" cy="256032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11796" y="2185416"/>
            <a:ext cx="192481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E72"/>
                </a:solidFill>
                <a:latin typeface="Calibri"/>
              </a:rPr>
              <a:t>LookedUpCustomerPhone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2505456"/>
            <a:ext cx="11091672" cy="310896"/>
          </a:xfrm>
          <a:prstGeom prst="roundRect">
            <a:avLst>
              <a:gd name="adj" fmla="val 12000"/>
            </a:avLst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2505456"/>
            <a:ext cx="108173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ROUTING — 5 branch(es)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294436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2926080"/>
            <a:ext cx="7680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2303F"/>
                </a:solidFill>
                <a:latin typeface="Calibri"/>
              </a:rPr>
              <a:t>Caller wants to make a change to their policy (add driver, modify coverage, change address…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2926080"/>
            <a:ext cx="32278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50" b="1" i="0">
                <a:solidFill>
                  <a:srgbClr val="1B2A4A"/>
                </a:solidFill>
                <a:latin typeface="Calibri"/>
              </a:rPr>
              <a:t>Update Flow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3255264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" y="3236976"/>
            <a:ext cx="7680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2303F"/>
                </a:solidFill>
                <a:latin typeface="Calibri"/>
              </a:rPr>
              <a:t>Caller indicates they have no further questions and is ready to end the call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3236976"/>
            <a:ext cx="32278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50" b="1" i="0">
                <a:solidFill>
                  <a:srgbClr val="1B2A4A"/>
                </a:solidFill>
                <a:latin typeface="Calibri"/>
              </a:rPr>
              <a:t>fn · Send Customer Lookup Event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566160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8096" y="3547872"/>
            <a:ext cx="7680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2303F"/>
                </a:solidFill>
                <a:latin typeface="Calibri"/>
              </a:rPr>
              <a:t>Caller asks a question requiring a licensed agent (claim outcome, legal advice, escalation…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3547872"/>
            <a:ext cx="32278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50" b="1" i="0">
                <a:solidFill>
                  <a:srgbClr val="1B2A4A"/>
                </a:solidFill>
                <a:latin typeface="Calibri"/>
              </a:rPr>
              <a:t>Escalation &amp; Callback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387705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" y="3858768"/>
            <a:ext cx="7680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2303F"/>
                </a:solidFill>
                <a:latin typeface="Calibri"/>
              </a:rPr>
              <a:t>Policy is Expired AND caller has agreed to start a new quote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3858768"/>
            <a:ext cx="32278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50" b="1" i="0">
                <a:solidFill>
                  <a:srgbClr val="1B2A4A"/>
                </a:solidFill>
                <a:latin typeface="Calibri"/>
              </a:rPr>
              <a:t>fn · Send Expired Pivot Event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18795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8096" y="4169664"/>
            <a:ext cx="7680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2303F"/>
                </a:solidFill>
                <a:latin typeface="Calibri"/>
              </a:rPr>
              <a:t>CallerType = Agent AND no update requested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4169664"/>
            <a:ext cx="32278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50" b="1" i="0">
                <a:solidFill>
                  <a:srgbClr val="1B2A4A"/>
                </a:solidFill>
                <a:latin typeface="Calibri"/>
              </a:rPr>
              <a:t>fn · Send Agent Inquiry Event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Authentication &amp; Policy Lookup   ·   79/98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286000"/>
            <a:ext cx="1645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000" b="1" i="0">
                <a:solidFill>
                  <a:srgbClr val="00A896"/>
                </a:solidFill>
                <a:latin typeface="Calibri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395728"/>
            <a:ext cx="8961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Agent / Underwriter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22576" y="3429000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EBCCB"/>
                </a:solidFill>
                <a:latin typeface="Calibri"/>
              </a:rPr>
              <a:t>2 node(s)  ·  Agent / Underwriter Support Mode · Extract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510528"/>
            <a:ext cx="3044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E8EA0"/>
                </a:solidFill>
                <a:latin typeface="Calibri"/>
              </a:rPr>
              <a:t>Agent / Underwriter Support   ·   80/98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Agent / Underwriter Support Mode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CONVERSATION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node[55]  ·  node-1778226860680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6446520" cy="5010912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6117336" cy="310896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63040"/>
            <a:ext cx="5843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THIS NODE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5989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Agent / underwriter support &amp; general coverage Q&amp;A from the knowledge base.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8757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Answers factually in 2–3 sentences; opens with a brief acknowledgement.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57073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502152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Pivots to a quote if the caller is ready, loops for more questions, or escalates out-of-scope items.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426567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97096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Compliance: no binding or legal advice.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298448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0064" y="1298448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EXIT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23760" y="172821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43216" y="1682495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after the exchange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43216" y="1865376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Extract — Questions  ⟶ ROUTER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Agent / Underwriter Support   ·   81/98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Extract — Questions  ⟶ ROUTER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VARIABLE 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node[56]  ·  node-1778226905743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11091672" cy="1078992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408176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303F"/>
                </a:solidFill>
                <a:latin typeface="Calibri"/>
              </a:rPr>
              <a:t>Silently captures 1 structured variable(s) from the preceding exchange, then routes the call.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83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2A4A"/>
                </a:solidFill>
                <a:latin typeface="Calibri"/>
              </a:rPr>
              <a:t>Captures: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1865376"/>
            <a:ext cx="1380744" cy="256032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1856232"/>
            <a:ext cx="138074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E72"/>
                </a:solidFill>
                <a:latin typeface="Calibri"/>
              </a:rPr>
              <a:t>QuestionsAsked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505456"/>
            <a:ext cx="11091672" cy="310896"/>
          </a:xfrm>
          <a:prstGeom prst="roundRect">
            <a:avLst>
              <a:gd name="adj" fmla="val 12000"/>
            </a:avLst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505456"/>
            <a:ext cx="108173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ROUTING — 4 branch(es)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4436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2926080"/>
            <a:ext cx="7680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2303F"/>
                </a:solidFill>
                <a:latin typeface="Calibri"/>
              </a:rPr>
              <a:t>Caller asks for a quote after their question is answered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926080"/>
            <a:ext cx="32278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50" b="1" i="0">
                <a:solidFill>
                  <a:srgbClr val="1B2A4A"/>
                </a:solidFill>
                <a:latin typeface="Calibri"/>
              </a:rPr>
              <a:t>Profile Intake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255264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3236976"/>
            <a:ext cx="7680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2303F"/>
                </a:solidFill>
                <a:latin typeface="Calibri"/>
              </a:rPr>
              <a:t>Caller indicates they have no further questions and don't want a quote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236976"/>
            <a:ext cx="32278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50" b="1" i="0">
                <a:solidFill>
                  <a:srgbClr val="1B2A4A"/>
                </a:solidFill>
                <a:latin typeface="Calibri"/>
              </a:rPr>
              <a:t>Close Call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566160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3547872"/>
            <a:ext cx="7680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2303F"/>
                </a:solidFill>
                <a:latin typeface="Calibri"/>
              </a:rPr>
              <a:t>Question is outside knowledge-base scope or requires a licensed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547872"/>
            <a:ext cx="32278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50" b="1" i="0">
                <a:solidFill>
                  <a:srgbClr val="1B2A4A"/>
                </a:solidFill>
                <a:latin typeface="Calibri"/>
              </a:rPr>
              <a:t>Escalation &amp; Callback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87705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858768"/>
            <a:ext cx="7680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2303F"/>
                </a:solidFill>
                <a:latin typeface="Calibri"/>
              </a:rPr>
              <a:t>Caller has another question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858768"/>
            <a:ext cx="32278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50" b="1" i="0">
                <a:solidFill>
                  <a:srgbClr val="1B2A4A"/>
                </a:solidFill>
                <a:latin typeface="Calibri"/>
              </a:rPr>
              <a:t>Agent / Underwriter Support Mode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Agent / Underwriter Support   ·   82/98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286000"/>
            <a:ext cx="1645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000" b="1" i="0">
                <a:solidFill>
                  <a:srgbClr val="00A896"/>
                </a:solidFill>
                <a:latin typeface="Calibri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395728"/>
            <a:ext cx="8961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Escalation &amp; Callback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22576" y="3429000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EBCCB"/>
                </a:solidFill>
                <a:latin typeface="Calibri"/>
              </a:rPr>
              <a:t>2 node(s)  ·  Escalation &amp; Callback · Extract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510528"/>
            <a:ext cx="3044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E8EA0"/>
                </a:solidFill>
                <a:latin typeface="Calibri"/>
              </a:rPr>
              <a:t>Escalation &amp; Callback   ·   83/98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Escalation &amp; Callback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CONVERSATION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node[57]  ·  node-1778227232958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6446520" cy="5010912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6117336" cy="310896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63040"/>
            <a:ext cx="5843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THIS NODE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5989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Compassionate escalation — schedules a human callback. Terminal node.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8757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Sets EscalationReason (out-of-scope state, failed auth, high-risk, complex/agent-required, caller request).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57073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502152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Captures callback name, number, preferred time, priority and context for the agent.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426567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97096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Carries risk level + factors through to the callback event.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298448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0064" y="1298448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EXIT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23760" y="172821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43216" y="1682495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after the exchange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43216" y="1865376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Extract — Callback Details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Escalation &amp; Callback   ·   84/98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Extract — Callback Details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VARIABLE 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node[58]  ·  node-1778227269256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6446520" cy="5010912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6117336" cy="310896"/>
          </a:xfrm>
          <a:prstGeom prst="roundRect">
            <a:avLst>
              <a:gd name="adj" fmla="val 12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63040"/>
            <a:ext cx="5843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THIS NODE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5989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Silently captures 7 structured variable(s) from the preceding exchange, then routes the call.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8757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Confirmed values become structured data for pricing, validation and backend events.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57073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502152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Logic stays separate from language — extraction never speaks to the caller.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426567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97096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Branches the call across 2 paths (see routing).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298448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0064" y="1298448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VARIABLES CAPTURED · 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1700784"/>
            <a:ext cx="1656892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1691639"/>
            <a:ext cx="16568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EscalationReason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2092" y="1700784"/>
            <a:ext cx="2077516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72092" y="1691639"/>
            <a:ext cx="207751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CallbackPreferredTime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2066543"/>
            <a:ext cx="1909267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2057400"/>
            <a:ext cx="190926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CallbackContactName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24467" y="2066543"/>
            <a:ext cx="1741017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24467" y="2057400"/>
            <a:ext cx="174101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EscalationContext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23760" y="2432303"/>
            <a:ext cx="1656892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0" y="2423160"/>
            <a:ext cx="16568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CallbackPriority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72092" y="2432303"/>
            <a:ext cx="1741017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72092" y="2423160"/>
            <a:ext cx="174101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CallbackRiskLevel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23760" y="2798063"/>
            <a:ext cx="1909267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60" y="2788920"/>
            <a:ext cx="190926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CallbackRiskFactors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23760" y="3346703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70064" y="3346703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ROUTING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23760" y="377647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43216" y="3730752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AlertFlag != Yes AND CallbackPreferredTime is set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43216" y="4096512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fn · Send Callback Request Event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23760" y="447141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43216" y="4425696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303F"/>
                </a:solidFill>
                <a:latin typeface="Calibri"/>
              </a:rPr>
              <a:t>AlertFlag = Yes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43216" y="4608576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→ </a:t>
            </a:r>
            <a:r>
              <a:rPr sz="900" b="1" i="0">
                <a:solidFill>
                  <a:srgbClr val="1B2A4A"/>
                </a:solidFill>
                <a:latin typeface="Calibri"/>
              </a:rPr>
              <a:t>fn · Send High Risk Event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Escalation &amp; Callback   ·   85/98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286000"/>
            <a:ext cx="1645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000" b="1" i="0">
                <a:solidFill>
                  <a:srgbClr val="00A896"/>
                </a:solidFill>
                <a:latin typeface="Calibri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395728"/>
            <a:ext cx="8961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Backend Event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22576" y="3429000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EBCCB"/>
                </a:solidFill>
                <a:latin typeface="Calibri"/>
              </a:rPr>
              <a:t>7 node(s)  ·  fn · Send New Quote Event · fn · Send Policy Update Event · fn · Send Agent Inquiry Event · fn · Send Expired Pivot Event · fn · Send Customer Lookup Event  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510528"/>
            <a:ext cx="3044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E8EA0"/>
                </a:solidFill>
                <a:latin typeface="Calibri"/>
              </a:rPr>
              <a:t>Backend Event Functions   ·   86/98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fn · Send New Quote Event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BACKEND FUNCTION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node[65]  ·  node-1778575673214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6446520" cy="5010912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6117336" cy="310896"/>
          </a:xfrm>
          <a:prstGeom prst="roundRect">
            <a:avLst>
              <a:gd name="adj" fmla="val 12000"/>
            </a:avLst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63040"/>
            <a:ext cx="5843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THIS NODE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5989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Sends draft quote summary email after a new policy quote completes.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8757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Backend function — no caller-facing dialogue of its own.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29641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227832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Delivers the structured payload (right) to WMIC systems via webhook.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399135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922776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Captured on the call timeline for audit and downstream automation.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298448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007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0064" y="1298448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EFFECT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1664207"/>
            <a:ext cx="4416552" cy="822960"/>
          </a:xfrm>
          <a:prstGeom prst="roundRect">
            <a:avLst>
              <a:gd name="adj" fmla="val 6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88352" y="1664207"/>
            <a:ext cx="410565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22303F"/>
                </a:solidFill>
                <a:latin typeface="Calibri"/>
              </a:rPr>
              <a:t>Webhook → WMIC. Sends draft quote summary email after a new policy quote completes.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3760" y="2651760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0064" y="2651760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EVENT PAYLOAD · 18 fields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3054096"/>
            <a:ext cx="1152144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3044952"/>
            <a:ext cx="11521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alert_flag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67344" y="3054096"/>
            <a:ext cx="123626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67344" y="3044952"/>
            <a:ext cx="12362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action_type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95052" y="3054096"/>
            <a:ext cx="140451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95052" y="3044952"/>
            <a:ext cx="140451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draft_summary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23760" y="3419856"/>
            <a:ext cx="140451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0" y="3410712"/>
            <a:ext cx="140451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policy_status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19718" y="3419856"/>
            <a:ext cx="1152144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19718" y="3410712"/>
            <a:ext cx="11521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send_email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63302" y="3419856"/>
            <a:ext cx="1152144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63302" y="3410712"/>
            <a:ext cx="11521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quote_high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23760" y="3785615"/>
            <a:ext cx="983894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23760" y="3776472"/>
            <a:ext cx="98389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draft_id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99094" y="3785615"/>
            <a:ext cx="157276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99094" y="3776472"/>
            <a:ext cx="15727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quote_frequency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63302" y="3785615"/>
            <a:ext cx="123626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63302" y="3776472"/>
            <a:ext cx="12362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caller_name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23760" y="4151376"/>
            <a:ext cx="1488643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23760" y="4142232"/>
            <a:ext cx="148864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caller_address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803843" y="4151376"/>
            <a:ext cx="1152144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03843" y="4142232"/>
            <a:ext cx="11521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risk_level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047427" y="4151376"/>
            <a:ext cx="1068019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47427" y="4142232"/>
            <a:ext cx="106801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quote_low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223760" y="4517136"/>
            <a:ext cx="123626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23760" y="4507992"/>
            <a:ext cx="12362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policy_type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551468" y="4517136"/>
            <a:ext cx="1320393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51468" y="4507992"/>
            <a:ext cx="132039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caller_phone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963302" y="4517136"/>
            <a:ext cx="140451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963302" y="4507992"/>
            <a:ext cx="140451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policy_number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223760" y="4882896"/>
            <a:ext cx="1320393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23760" y="4873752"/>
            <a:ext cx="132039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caller_email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635593" y="4882896"/>
            <a:ext cx="1656892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35593" y="4873752"/>
            <a:ext cx="16568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risk_factor_list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383926" y="4882896"/>
            <a:ext cx="123626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383926" y="4873752"/>
            <a:ext cx="12362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caller_type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Backend Event Functions   ·   87/98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fn · Send Policy Update Event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BACKEND FUNCTION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node[66]  ·  node-1778575926251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6446520" cy="5010912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6117336" cy="310896"/>
          </a:xfrm>
          <a:prstGeom prst="roundRect">
            <a:avLst>
              <a:gd name="adj" fmla="val 12000"/>
            </a:avLst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63040"/>
            <a:ext cx="5843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THIS NODE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5989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Sends draft quote summary email after a new policy quote completes.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8757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Backend function — no caller-facing dialogue of its own.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29641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227832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Delivers the structured payload (right) to WMIC systems via webhook.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399135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922776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Captured on the call timeline for audit and downstream automation.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298448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007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0064" y="1298448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EFFECT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1664207"/>
            <a:ext cx="4416552" cy="822960"/>
          </a:xfrm>
          <a:prstGeom prst="roundRect">
            <a:avLst>
              <a:gd name="adj" fmla="val 6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88352" y="1664207"/>
            <a:ext cx="410565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22303F"/>
                </a:solidFill>
                <a:latin typeface="Calibri"/>
              </a:rPr>
              <a:t>Webhook → WMIC. Sends draft quote summary email after a new policy quote completes.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3760" y="2651760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0064" y="2651760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EVENT PAYLOAD · 18 fields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3054096"/>
            <a:ext cx="1152144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3044952"/>
            <a:ext cx="11521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alert_flag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67344" y="3054096"/>
            <a:ext cx="123626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67344" y="3044952"/>
            <a:ext cx="12362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action_type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95052" y="3054096"/>
            <a:ext cx="140451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95052" y="3044952"/>
            <a:ext cx="140451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draft_summary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23760" y="3419856"/>
            <a:ext cx="140451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0" y="3410712"/>
            <a:ext cx="140451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policy_status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19718" y="3419856"/>
            <a:ext cx="1152144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19718" y="3410712"/>
            <a:ext cx="11521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send_email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63302" y="3419856"/>
            <a:ext cx="1152144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63302" y="3410712"/>
            <a:ext cx="11521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quote_high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23760" y="3785615"/>
            <a:ext cx="983894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23760" y="3776472"/>
            <a:ext cx="98389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draft_id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99094" y="3785615"/>
            <a:ext cx="157276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99094" y="3776472"/>
            <a:ext cx="15727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quote_frequency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63302" y="3785615"/>
            <a:ext cx="123626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63302" y="3776472"/>
            <a:ext cx="12362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caller_name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23760" y="4151376"/>
            <a:ext cx="1488643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23760" y="4142232"/>
            <a:ext cx="148864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caller_address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803843" y="4151376"/>
            <a:ext cx="1152144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03843" y="4142232"/>
            <a:ext cx="11521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risk_level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047427" y="4151376"/>
            <a:ext cx="1068019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47427" y="4142232"/>
            <a:ext cx="106801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quote_low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223760" y="4517136"/>
            <a:ext cx="123626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23760" y="4507992"/>
            <a:ext cx="12362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policy_type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551468" y="4517136"/>
            <a:ext cx="1320393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51468" y="4507992"/>
            <a:ext cx="132039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caller_phone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963302" y="4517136"/>
            <a:ext cx="140451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963302" y="4507992"/>
            <a:ext cx="140451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policy_number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223760" y="4882896"/>
            <a:ext cx="1320393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23760" y="4873752"/>
            <a:ext cx="132039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caller_email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635593" y="4882896"/>
            <a:ext cx="1656892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35593" y="4873752"/>
            <a:ext cx="16568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risk_factor_list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383926" y="4882896"/>
            <a:ext cx="123626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383926" y="4873752"/>
            <a:ext cx="12362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caller_type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Backend Event Functions   ·   88/98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fn · Send Agent Inquiry Event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BACKEND FUNCTION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node[67]  ·  node-1778578431338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6446520" cy="5010912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6117336" cy="310896"/>
          </a:xfrm>
          <a:prstGeom prst="roundRect">
            <a:avLst>
              <a:gd name="adj" fmla="val 12000"/>
            </a:avLst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63040"/>
            <a:ext cx="5843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THIS NODE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5989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Sends draft quote summary email after a new policy quote completes.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8757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Backend function — no caller-facing dialogue of its own.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29641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227832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Delivers the structured payload (right) to WMIC systems via webhook.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399135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922776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Captured on the call timeline for audit and downstream automation.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298448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007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0064" y="1298448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EFFECT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1664207"/>
            <a:ext cx="4416552" cy="822960"/>
          </a:xfrm>
          <a:prstGeom prst="roundRect">
            <a:avLst>
              <a:gd name="adj" fmla="val 6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88352" y="1664207"/>
            <a:ext cx="410565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22303F"/>
                </a:solidFill>
                <a:latin typeface="Calibri"/>
              </a:rPr>
              <a:t>Webhook → WMIC. Sends draft quote summary email after a new policy quote completes.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3760" y="2651760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0064" y="2651760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EVENT PAYLOAD · 18 fields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3054096"/>
            <a:ext cx="1152144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3044952"/>
            <a:ext cx="11521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alert_flag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67344" y="3054096"/>
            <a:ext cx="123626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67344" y="3044952"/>
            <a:ext cx="12362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action_type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95052" y="3054096"/>
            <a:ext cx="140451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95052" y="3044952"/>
            <a:ext cx="140451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draft_summary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23760" y="3419856"/>
            <a:ext cx="140451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0" y="3410712"/>
            <a:ext cx="140451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policy_status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19718" y="3419856"/>
            <a:ext cx="1152144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19718" y="3410712"/>
            <a:ext cx="11521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send_email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63302" y="3419856"/>
            <a:ext cx="1152144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63302" y="3410712"/>
            <a:ext cx="11521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quote_high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23760" y="3785615"/>
            <a:ext cx="983894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23760" y="3776472"/>
            <a:ext cx="98389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draft_id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99094" y="3785615"/>
            <a:ext cx="157276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99094" y="3776472"/>
            <a:ext cx="15727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quote_frequency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63302" y="3785615"/>
            <a:ext cx="123626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63302" y="3776472"/>
            <a:ext cx="12362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caller_name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23760" y="4151376"/>
            <a:ext cx="1488643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23760" y="4142232"/>
            <a:ext cx="148864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caller_address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803843" y="4151376"/>
            <a:ext cx="1152144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03843" y="4142232"/>
            <a:ext cx="11521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risk_level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047427" y="4151376"/>
            <a:ext cx="1068019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47427" y="4142232"/>
            <a:ext cx="106801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quote_low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223760" y="4517136"/>
            <a:ext cx="123626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23760" y="4507992"/>
            <a:ext cx="12362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policy_type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551468" y="4517136"/>
            <a:ext cx="1320393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51468" y="4507992"/>
            <a:ext cx="132039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caller_phone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963302" y="4517136"/>
            <a:ext cx="140451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963302" y="4507992"/>
            <a:ext cx="140451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policy_number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223760" y="4882896"/>
            <a:ext cx="1320393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23760" y="4873752"/>
            <a:ext cx="132039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caller_email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635593" y="4882896"/>
            <a:ext cx="1656892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35593" y="4873752"/>
            <a:ext cx="16568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risk_factor_list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383926" y="4882896"/>
            <a:ext cx="123626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383926" y="4873752"/>
            <a:ext cx="12362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caller_type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Backend Event Functions   ·   89/98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fn · Send Expired Pivot Event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BACKEND FUNCTION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node[68]  ·  node-1778578511828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6446520" cy="5010912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6117336" cy="310896"/>
          </a:xfrm>
          <a:prstGeom prst="roundRect">
            <a:avLst>
              <a:gd name="adj" fmla="val 12000"/>
            </a:avLst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63040"/>
            <a:ext cx="5843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THIS NODE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5989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Sends draft quote summary email after a new policy quote completes.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8757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Backend function — no caller-facing dialogue of its own.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29641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227832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Delivers the structured payload (right) to WMIC systems via webhook.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399135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922776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Captured on the call timeline for audit and downstream automation.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298448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007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0064" y="1298448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EFFECT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1664207"/>
            <a:ext cx="4416552" cy="822960"/>
          </a:xfrm>
          <a:prstGeom prst="roundRect">
            <a:avLst>
              <a:gd name="adj" fmla="val 6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88352" y="1664207"/>
            <a:ext cx="410565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22303F"/>
                </a:solidFill>
                <a:latin typeface="Calibri"/>
              </a:rPr>
              <a:t>Webhook → WMIC. Sends draft quote summary email after a new policy quote completes.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3760" y="2651760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0064" y="2651760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EVENT PAYLOAD · 18 fields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3054096"/>
            <a:ext cx="1152144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3044952"/>
            <a:ext cx="11521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alert_flag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67344" y="3054096"/>
            <a:ext cx="123626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67344" y="3044952"/>
            <a:ext cx="12362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action_type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95052" y="3054096"/>
            <a:ext cx="140451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95052" y="3044952"/>
            <a:ext cx="140451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draft_summary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23760" y="3419856"/>
            <a:ext cx="140451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0" y="3410712"/>
            <a:ext cx="140451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policy_status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19718" y="3419856"/>
            <a:ext cx="1152144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19718" y="3410712"/>
            <a:ext cx="11521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send_email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63302" y="3419856"/>
            <a:ext cx="1152144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63302" y="3410712"/>
            <a:ext cx="11521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quote_high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23760" y="3785615"/>
            <a:ext cx="983894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23760" y="3776472"/>
            <a:ext cx="98389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draft_id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99094" y="3785615"/>
            <a:ext cx="157276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99094" y="3776472"/>
            <a:ext cx="15727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quote_frequency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63302" y="3785615"/>
            <a:ext cx="123626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63302" y="3776472"/>
            <a:ext cx="12362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caller_name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23760" y="4151376"/>
            <a:ext cx="1488643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23760" y="4142232"/>
            <a:ext cx="148864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caller_address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803843" y="4151376"/>
            <a:ext cx="1152144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03843" y="4142232"/>
            <a:ext cx="11521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risk_level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047427" y="4151376"/>
            <a:ext cx="1068019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47427" y="4142232"/>
            <a:ext cx="106801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quote_low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223760" y="4517136"/>
            <a:ext cx="123626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23760" y="4507992"/>
            <a:ext cx="12362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policy_type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551468" y="4517136"/>
            <a:ext cx="1320393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51468" y="4507992"/>
            <a:ext cx="132039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caller_phone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963302" y="4517136"/>
            <a:ext cx="140451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963302" y="4507992"/>
            <a:ext cx="140451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policy_number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223760" y="4882896"/>
            <a:ext cx="1320393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23760" y="4873752"/>
            <a:ext cx="132039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caller_email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635593" y="4882896"/>
            <a:ext cx="1656892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35593" y="4873752"/>
            <a:ext cx="16568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risk_factor_list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383926" y="4882896"/>
            <a:ext cx="123626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383926" y="4873752"/>
            <a:ext cx="12362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caller_type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Backend Event Functions   ·   90/98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fn · Send Customer Lookup Event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BACKEND FUNCTION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node[69]  ·  node-1778578676281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6446520" cy="5010912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6117336" cy="310896"/>
          </a:xfrm>
          <a:prstGeom prst="roundRect">
            <a:avLst>
              <a:gd name="adj" fmla="val 12000"/>
            </a:avLst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63040"/>
            <a:ext cx="5843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THIS NODE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5989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Sends draft quote summary email after a new policy quote completes.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8757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Backend function — no caller-facing dialogue of its own.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29641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227832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Delivers the structured payload (right) to WMIC systems via webhook.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399135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922776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Captured on the call timeline for audit and downstream automation.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298448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007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0064" y="1298448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EFFECT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1664207"/>
            <a:ext cx="4416552" cy="822960"/>
          </a:xfrm>
          <a:prstGeom prst="roundRect">
            <a:avLst>
              <a:gd name="adj" fmla="val 6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88352" y="1664207"/>
            <a:ext cx="410565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22303F"/>
                </a:solidFill>
                <a:latin typeface="Calibri"/>
              </a:rPr>
              <a:t>Webhook → WMIC. Sends draft quote summary email after a new policy quote completes.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3760" y="2651760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0064" y="2651760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EVENT PAYLOAD · 18 fields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3054096"/>
            <a:ext cx="1152144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3044952"/>
            <a:ext cx="11521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alert_flag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67344" y="3054096"/>
            <a:ext cx="123626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67344" y="3044952"/>
            <a:ext cx="12362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action_type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95052" y="3054096"/>
            <a:ext cx="140451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95052" y="3044952"/>
            <a:ext cx="140451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draft_summary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23760" y="3419856"/>
            <a:ext cx="140451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0" y="3410712"/>
            <a:ext cx="140451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policy_status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19718" y="3419856"/>
            <a:ext cx="1152144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19718" y="3410712"/>
            <a:ext cx="11521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send_email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63302" y="3419856"/>
            <a:ext cx="1152144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63302" y="3410712"/>
            <a:ext cx="11521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quote_high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23760" y="3785615"/>
            <a:ext cx="983894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23760" y="3776472"/>
            <a:ext cx="98389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draft_id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99094" y="3785615"/>
            <a:ext cx="157276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99094" y="3776472"/>
            <a:ext cx="15727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quote_frequency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63302" y="3785615"/>
            <a:ext cx="123626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63302" y="3776472"/>
            <a:ext cx="12362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caller_name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23760" y="4151376"/>
            <a:ext cx="1488643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23760" y="4142232"/>
            <a:ext cx="148864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caller_address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803843" y="4151376"/>
            <a:ext cx="1152144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03843" y="4142232"/>
            <a:ext cx="11521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risk_level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047427" y="4151376"/>
            <a:ext cx="1068019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47427" y="4142232"/>
            <a:ext cx="106801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quote_low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223760" y="4517136"/>
            <a:ext cx="123626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23760" y="4507992"/>
            <a:ext cx="12362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policy_type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551468" y="4517136"/>
            <a:ext cx="1320393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51468" y="4507992"/>
            <a:ext cx="132039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caller_phone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963302" y="4517136"/>
            <a:ext cx="140451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963302" y="4507992"/>
            <a:ext cx="140451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policy_number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223760" y="4882896"/>
            <a:ext cx="1320393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23760" y="4873752"/>
            <a:ext cx="132039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caller_email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635593" y="4882896"/>
            <a:ext cx="1656892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35593" y="4873752"/>
            <a:ext cx="16568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risk_factor_list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383926" y="4882896"/>
            <a:ext cx="123626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383926" y="4873752"/>
            <a:ext cx="12362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caller_type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Backend Event Functions   ·   91/98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fn · Send Callback Request Event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BACKEND FUNCTION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node[70]  ·  node-1778580332523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6446520" cy="5010912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6117336" cy="310896"/>
          </a:xfrm>
          <a:prstGeom prst="roundRect">
            <a:avLst>
              <a:gd name="adj" fmla="val 12000"/>
            </a:avLst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63040"/>
            <a:ext cx="5843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THIS NODE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5989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Sends draft quote summary email after a new policy quote completes.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8757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Backend function — no caller-facing dialogue of its own.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29641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227832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Delivers the structured payload (right) to WMIC systems via webhook.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399135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922776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Captured on the call timeline for audit and downstream automation.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298448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007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0064" y="1298448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EFFECT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1664207"/>
            <a:ext cx="4416552" cy="822960"/>
          </a:xfrm>
          <a:prstGeom prst="roundRect">
            <a:avLst>
              <a:gd name="adj" fmla="val 6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88352" y="1664207"/>
            <a:ext cx="410565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22303F"/>
                </a:solidFill>
                <a:latin typeface="Calibri"/>
              </a:rPr>
              <a:t>Webhook → WMIC. Sends draft quote summary email after a new policy quote completes.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3760" y="2651760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0064" y="2651760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EVENT PAYLOAD · 18 fields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3054096"/>
            <a:ext cx="1152144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3044952"/>
            <a:ext cx="11521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alert_flag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67344" y="3054096"/>
            <a:ext cx="123626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67344" y="3044952"/>
            <a:ext cx="12362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action_type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95052" y="3054096"/>
            <a:ext cx="140451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95052" y="3044952"/>
            <a:ext cx="140451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draft_summary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23760" y="3419856"/>
            <a:ext cx="140451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0" y="3410712"/>
            <a:ext cx="140451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policy_status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19718" y="3419856"/>
            <a:ext cx="1152144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19718" y="3410712"/>
            <a:ext cx="11521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send_email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63302" y="3419856"/>
            <a:ext cx="1152144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63302" y="3410712"/>
            <a:ext cx="11521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quote_high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23760" y="3785615"/>
            <a:ext cx="983894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23760" y="3776472"/>
            <a:ext cx="98389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draft_id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99094" y="3785615"/>
            <a:ext cx="157276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99094" y="3776472"/>
            <a:ext cx="15727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quote_frequency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63302" y="3785615"/>
            <a:ext cx="123626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63302" y="3776472"/>
            <a:ext cx="12362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caller_name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23760" y="4151376"/>
            <a:ext cx="1488643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23760" y="4142232"/>
            <a:ext cx="148864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caller_address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803843" y="4151376"/>
            <a:ext cx="1152144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03843" y="4142232"/>
            <a:ext cx="11521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risk_level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047427" y="4151376"/>
            <a:ext cx="1068019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47427" y="4142232"/>
            <a:ext cx="106801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quote_low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223760" y="4517136"/>
            <a:ext cx="123626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23760" y="4507992"/>
            <a:ext cx="12362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policy_type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551468" y="4517136"/>
            <a:ext cx="1320393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51468" y="4507992"/>
            <a:ext cx="132039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caller_phone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963302" y="4517136"/>
            <a:ext cx="140451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963302" y="4507992"/>
            <a:ext cx="140451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policy_number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223760" y="4882896"/>
            <a:ext cx="1320393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23760" y="4873752"/>
            <a:ext cx="132039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caller_email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635593" y="4882896"/>
            <a:ext cx="1656892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35593" y="4873752"/>
            <a:ext cx="16568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risk_factor_list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383926" y="4882896"/>
            <a:ext cx="123626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383926" y="4873752"/>
            <a:ext cx="12362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caller_type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Backend Event Functions   ·   92/98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384048"/>
          </a:xfrm>
          <a:prstGeom prst="rect">
            <a:avLst/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4A"/>
                </a:solidFill>
                <a:latin typeface="Calibri"/>
              </a:rPr>
              <a:t>fn · Send High Risk Event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02920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489204"/>
            <a:ext cx="19933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BACKEND FUNCTION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9326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6"/>
                </a:solidFill>
                <a:latin typeface="Consolas"/>
              </a:rPr>
              <a:t>node[71]  ·  node-1778580404532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6446520" cy="5010912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6117336" cy="310896"/>
          </a:xfrm>
          <a:prstGeom prst="roundRect">
            <a:avLst>
              <a:gd name="adj" fmla="val 12000"/>
            </a:avLst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63040"/>
            <a:ext cx="5843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THIS NODE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5989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Sends draft quote summary email after a new policy quote completes.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87578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07208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Backend function — no caller-facing dialogue of its own.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29641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227832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Delivers the structured payload (right) to WMIC systems via webhook.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3991356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922776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Calibri"/>
              </a:rPr>
              <a:t>Captured on the call timeline for audit and downstream automation.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298448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007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0064" y="1298448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EFFECT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1664207"/>
            <a:ext cx="4416552" cy="822960"/>
          </a:xfrm>
          <a:prstGeom prst="roundRect">
            <a:avLst>
              <a:gd name="adj" fmla="val 6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88352" y="1664207"/>
            <a:ext cx="410565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22303F"/>
                </a:solidFill>
                <a:latin typeface="Calibri"/>
              </a:rPr>
              <a:t>Webhook → WMIC. Sends draft quote summary email after a new policy quote completes.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3760" y="2651760"/>
            <a:ext cx="4416552" cy="310896"/>
          </a:xfrm>
          <a:prstGeom prst="roundRect">
            <a:avLst>
              <a:gd name="adj" fmla="val 12000"/>
            </a:avLst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0064" y="2651760"/>
            <a:ext cx="4142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EVENT PAYLOAD · 18 fields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3054096"/>
            <a:ext cx="1152144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3044952"/>
            <a:ext cx="11521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alert_flag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67344" y="3054096"/>
            <a:ext cx="123626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67344" y="3044952"/>
            <a:ext cx="12362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action_type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95052" y="3054096"/>
            <a:ext cx="140451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95052" y="3044952"/>
            <a:ext cx="140451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draft_summary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23760" y="3419856"/>
            <a:ext cx="140451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0" y="3410712"/>
            <a:ext cx="140451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policy_status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19718" y="3419856"/>
            <a:ext cx="1152144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19718" y="3410712"/>
            <a:ext cx="11521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send_email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63302" y="3419856"/>
            <a:ext cx="1152144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63302" y="3410712"/>
            <a:ext cx="11521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quote_high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23760" y="3785615"/>
            <a:ext cx="983894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23760" y="3776472"/>
            <a:ext cx="98389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draft_id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99094" y="3785615"/>
            <a:ext cx="157276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99094" y="3776472"/>
            <a:ext cx="15727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quote_frequency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63302" y="3785615"/>
            <a:ext cx="123626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63302" y="3776472"/>
            <a:ext cx="12362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caller_name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23760" y="4151376"/>
            <a:ext cx="1488643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23760" y="4142232"/>
            <a:ext cx="148864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caller_address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803843" y="4151376"/>
            <a:ext cx="1152144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03843" y="4142232"/>
            <a:ext cx="11521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risk_level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047427" y="4151376"/>
            <a:ext cx="1068019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47427" y="4142232"/>
            <a:ext cx="106801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quote_low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223760" y="4517136"/>
            <a:ext cx="123626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23760" y="4507992"/>
            <a:ext cx="12362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policy_type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551468" y="4517136"/>
            <a:ext cx="1320393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51468" y="4507992"/>
            <a:ext cx="132039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caller_phone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963302" y="4517136"/>
            <a:ext cx="140451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963302" y="4507992"/>
            <a:ext cx="140451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policy_number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223760" y="4882896"/>
            <a:ext cx="1320393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23760" y="4873752"/>
            <a:ext cx="132039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caller_email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635593" y="4882896"/>
            <a:ext cx="1656892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35593" y="4873752"/>
            <a:ext cx="16568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risk_factor_list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383926" y="4882896"/>
            <a:ext cx="1236268" cy="274320"/>
          </a:xfrm>
          <a:prstGeom prst="roundRect">
            <a:avLst>
              <a:gd name="adj" fmla="val 40000"/>
            </a:avLst>
          </a:prstGeom>
          <a:solidFill>
            <a:srgbClr val="D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383926" y="4873752"/>
            <a:ext cx="12362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E72"/>
                </a:solidFill>
                <a:latin typeface="Calibri"/>
              </a:rPr>
              <a:t>caller_type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Backend Event Functions   ·   93/98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146304" cy="38404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20624"/>
            <a:ext cx="9509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2A4A"/>
                </a:solidFill>
                <a:latin typeface="Calibri"/>
              </a:rPr>
              <a:t>Backend tools &amp; events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932688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B7B"/>
                </a:solidFill>
                <a:latin typeface="Calibri"/>
              </a:rPr>
              <a:t>8 webhooks connect INSURA to WMIC underwriting &amp; servicing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11091672" cy="5303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39319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2A4A"/>
                </a:solidFill>
                <a:latin typeface="Consolas"/>
              </a:rPr>
              <a:t>send_insura_email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463040"/>
            <a:ext cx="56692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303F"/>
                </a:solidFill>
                <a:latin typeface="Calibri"/>
              </a:rPr>
              <a:t>Emails the quote summary to the customer; CCs underwriting.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378440" y="1609344"/>
            <a:ext cx="1143000" cy="24688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78440" y="1595628"/>
            <a:ext cx="11430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EMAIL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29968"/>
            <a:ext cx="11091672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29968"/>
            <a:ext cx="39319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2A4A"/>
                </a:solidFill>
                <a:latin typeface="Consolas"/>
              </a:rPr>
              <a:t>send_new_quote_event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029968"/>
            <a:ext cx="56692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303F"/>
                </a:solidFill>
                <a:latin typeface="Calibri"/>
              </a:rPr>
              <a:t>Sends draft-quote summary + full payload after a new quote.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78440" y="2176272"/>
            <a:ext cx="1143000" cy="246888"/>
          </a:xfrm>
          <a:prstGeom prst="roundRect">
            <a:avLst>
              <a:gd name="adj" fmla="val 50000"/>
            </a:avLst>
          </a:prstGeom>
          <a:solidFill>
            <a:srgbClr val="007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78440" y="2162556"/>
            <a:ext cx="11430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EMAIL+LOG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596896"/>
            <a:ext cx="11091672" cy="5303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596896"/>
            <a:ext cx="39319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2A4A"/>
                </a:solidFill>
                <a:latin typeface="Consolas"/>
              </a:rPr>
              <a:t>send_policy_update_event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596896"/>
            <a:ext cx="56692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303F"/>
                </a:solidFill>
                <a:latin typeface="Calibri"/>
              </a:rPr>
              <a:t>Confirms a captured policy change for an agent to action.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78440" y="2743200"/>
            <a:ext cx="1143000" cy="246888"/>
          </a:xfrm>
          <a:prstGeom prst="roundRect">
            <a:avLst>
              <a:gd name="adj" fmla="val 50000"/>
            </a:avLst>
          </a:prstGeom>
          <a:solidFill>
            <a:srgbClr val="007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78440" y="2729484"/>
            <a:ext cx="11430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EMAIL+LOG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163824"/>
            <a:ext cx="11091672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163824"/>
            <a:ext cx="39319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2A4A"/>
                </a:solidFill>
                <a:latin typeface="Consolas"/>
              </a:rPr>
              <a:t>send_callback_request_event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3163824"/>
            <a:ext cx="56692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303F"/>
                </a:solidFill>
                <a:latin typeface="Calibri"/>
              </a:rPr>
              <a:t>Confirms a scheduled callback from N29 escalation.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78440" y="3310128"/>
            <a:ext cx="1143000" cy="246888"/>
          </a:xfrm>
          <a:prstGeom prst="roundRect">
            <a:avLst>
              <a:gd name="adj" fmla="val 50000"/>
            </a:avLst>
          </a:prstGeom>
          <a:solidFill>
            <a:srgbClr val="007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78440" y="3296412"/>
            <a:ext cx="11430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EMAIL+LOG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730752"/>
            <a:ext cx="11091672" cy="5303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730752"/>
            <a:ext cx="39319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2A4A"/>
                </a:solidFill>
                <a:latin typeface="Consolas"/>
              </a:rPr>
              <a:t>send_high_risk_event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3730752"/>
            <a:ext cx="56692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303F"/>
                </a:solidFill>
                <a:latin typeface="Calibri"/>
              </a:rPr>
              <a:t>Alerts senior underwriting to a high-risk profile.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78440" y="3877056"/>
            <a:ext cx="1143000" cy="246888"/>
          </a:xfrm>
          <a:prstGeom prst="roundRect">
            <a:avLst>
              <a:gd name="adj" fmla="val 50000"/>
            </a:avLst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78440" y="3863340"/>
            <a:ext cx="11430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ALERT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297680"/>
            <a:ext cx="11091672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297680"/>
            <a:ext cx="39319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2A4A"/>
                </a:solidFill>
                <a:latin typeface="Consolas"/>
              </a:rPr>
              <a:t>send_expired_pivot_event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4297680"/>
            <a:ext cx="56692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303F"/>
                </a:solidFill>
                <a:latin typeface="Calibri"/>
              </a:rPr>
              <a:t>Logs an expired-policy customer starting a fresh quote.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78440" y="4443984"/>
            <a:ext cx="1143000" cy="246888"/>
          </a:xfrm>
          <a:prstGeom prst="roundRect">
            <a:avLst>
              <a:gd name="adj" fmla="val 50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78440" y="4430268"/>
            <a:ext cx="11430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LOG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864608"/>
            <a:ext cx="11091672" cy="5303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4864608"/>
            <a:ext cx="39319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2A4A"/>
                </a:solidFill>
                <a:latin typeface="Consolas"/>
              </a:rPr>
              <a:t>send_customer_lookup_event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6280" y="4864608"/>
            <a:ext cx="56692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303F"/>
                </a:solidFill>
                <a:latin typeface="Calibri"/>
              </a:rPr>
              <a:t>Logs a customer self-service policy lookup (no email).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378440" y="5010912"/>
            <a:ext cx="1143000" cy="246888"/>
          </a:xfrm>
          <a:prstGeom prst="roundRect">
            <a:avLst>
              <a:gd name="adj" fmla="val 50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78440" y="4997196"/>
            <a:ext cx="11430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LOG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431536"/>
            <a:ext cx="11091672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431536"/>
            <a:ext cx="39319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2A4A"/>
                </a:solidFill>
                <a:latin typeface="Consolas"/>
              </a:rPr>
              <a:t>send_agent_inquiry_event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26280" y="5431536"/>
            <a:ext cx="56692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303F"/>
                </a:solidFill>
                <a:latin typeface="Calibri"/>
              </a:rPr>
              <a:t>Logs an agent/underwriter data inquiry for audit (no email).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378440" y="5577840"/>
            <a:ext cx="1143000" cy="246888"/>
          </a:xfrm>
          <a:prstGeom prst="roundRect">
            <a:avLst>
              <a:gd name="adj" fmla="val 50000"/>
            </a:avLst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378440" y="5564124"/>
            <a:ext cx="11430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LOG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Reference   ·   94/98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146304" cy="38404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20624"/>
            <a:ext cx="9509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2A4A"/>
                </a:solidFill>
                <a:latin typeface="Calibri"/>
              </a:rPr>
              <a:t>Guardrails &amp;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932688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B7B"/>
                </a:solidFill>
                <a:latin typeface="Calibri"/>
              </a:rPr>
              <a:t>Safety is designed into the flow, not bolted 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449824" cy="1078992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91440" cy="1078992"/>
          </a:xfrm>
          <a:prstGeom prst="rect">
            <a:avLst/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45336"/>
            <a:ext cx="50840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2A4A"/>
                </a:solidFill>
                <a:latin typeface="Calibri"/>
              </a:rPr>
              <a:t>AI disclosure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874519"/>
            <a:ext cx="503834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2303F"/>
                </a:solidFill>
                <a:latin typeface="Calibri"/>
              </a:rPr>
              <a:t>Callers are told up front they're speaking with an AI assistant.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417320"/>
            <a:ext cx="5449824" cy="1078992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0488" y="1417320"/>
            <a:ext cx="91440" cy="1078992"/>
          </a:xfrm>
          <a:prstGeom prst="rect">
            <a:avLst/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545336"/>
            <a:ext cx="50840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2A4A"/>
                </a:solidFill>
                <a:latin typeface="Calibri"/>
              </a:rPr>
              <a:t>Identity verification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874519"/>
            <a:ext cx="503834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2303F"/>
                </a:solidFill>
                <a:latin typeface="Calibri"/>
              </a:rPr>
              <a:t>Policy number + phone last-4 (or agent code) before any policy data; 2 fails → human.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624328"/>
            <a:ext cx="5449824" cy="1078992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624328"/>
            <a:ext cx="91440" cy="107899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752344"/>
            <a:ext cx="50840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2A4A"/>
                </a:solidFill>
                <a:latin typeface="Calibri"/>
              </a:rPr>
              <a:t>Empathy interceptor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081528"/>
            <a:ext cx="503834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2303F"/>
                </a:solidFill>
                <a:latin typeface="Calibri"/>
              </a:rPr>
              <a:t>Global node detects distress, drops humour, gives space — in any node.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624328"/>
            <a:ext cx="5449824" cy="1078992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2624328"/>
            <a:ext cx="91440" cy="1078992"/>
          </a:xfrm>
          <a:prstGeom prst="rect">
            <a:avLst/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752344"/>
            <a:ext cx="50840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2A4A"/>
                </a:solidFill>
                <a:latin typeface="Calibri"/>
              </a:rPr>
              <a:t>High-risk escalation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081528"/>
            <a:ext cx="503834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2303F"/>
                </a:solidFill>
                <a:latin typeface="Calibri"/>
              </a:rPr>
              <a:t>3+ flags or a hard flag alerts senior underwriting automatically.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831335"/>
            <a:ext cx="5449824" cy="1078992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831335"/>
            <a:ext cx="91440" cy="1078992"/>
          </a:xfrm>
          <a:prstGeom prst="rect">
            <a:avLst/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3959351"/>
            <a:ext cx="50840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2A4A"/>
                </a:solidFill>
                <a:latin typeface="Calibri"/>
              </a:rPr>
              <a:t>Scope discipline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288536"/>
            <a:ext cx="503834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2303F"/>
                </a:solidFill>
                <a:latin typeface="Calibri"/>
              </a:rPr>
              <a:t>No binding, legal or coverage guarantees; out-of-appetite states route to a human.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3831335"/>
            <a:ext cx="5449824" cy="1078992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90488" y="3831335"/>
            <a:ext cx="91440" cy="107899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959351"/>
            <a:ext cx="50840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2A4A"/>
                </a:solidFill>
                <a:latin typeface="Calibri"/>
              </a:rPr>
              <a:t>PII protection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288536"/>
            <a:ext cx="503834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2303F"/>
                </a:solidFill>
                <a:latin typeface="Calibri"/>
              </a:rPr>
              <a:t>Redaction config + governed data storage; lookup limited to the caller's own policy.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038344"/>
            <a:ext cx="5449824" cy="1078992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5038344"/>
            <a:ext cx="91440" cy="1078992"/>
          </a:xfrm>
          <a:prstGeom prst="rect">
            <a:avLst/>
          </a:prstGeom>
          <a:solidFill>
            <a:srgbClr val="007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5166359"/>
            <a:ext cx="50840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2A4A"/>
                </a:solidFill>
                <a:latin typeface="Calibri"/>
              </a:rPr>
              <a:t>Read-back validation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" y="5495544"/>
            <a:ext cx="503834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2303F"/>
                </a:solidFill>
                <a:latin typeface="Calibri"/>
              </a:rPr>
              <a:t>Mandatory mid-call confirmation before any draft or change is submitted.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0488" y="5038344"/>
            <a:ext cx="5449824" cy="1078992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0488" y="5038344"/>
            <a:ext cx="91440" cy="1078992"/>
          </a:xfrm>
          <a:prstGeom prst="rect">
            <a:avLst/>
          </a:prstGeom>
          <a:solidFill>
            <a:srgbClr val="24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5166359"/>
            <a:ext cx="50840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2A4A"/>
                </a:solidFill>
                <a:latin typeface="Calibri"/>
              </a:rPr>
              <a:t>Full auditability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5495544"/>
            <a:ext cx="503834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2303F"/>
                </a:solidFill>
                <a:latin typeface="Calibri"/>
              </a:rPr>
              <a:t>Every quote, lookup, update and inquiry logged as a structured event.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Reference   ·   95/98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146304" cy="38404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20624"/>
            <a:ext cx="9509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2A4A"/>
                </a:solidFill>
                <a:latin typeface="Calibri"/>
              </a:rPr>
              <a:t>Appendix — node 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932688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B7B"/>
                </a:solidFill>
                <a:latin typeface="Calibri"/>
              </a:rPr>
              <a:t>All 72 Retell nodes mapped to their functional phase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486400" cy="292608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17320"/>
            <a:ext cx="3200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19" y="1417320"/>
            <a:ext cx="3200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Node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59" y="1417320"/>
            <a:ext cx="3200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Type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5486400" cy="24688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783080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1783080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Global Prompt — INSURA Persona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1783080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Conversation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034540"/>
            <a:ext cx="548640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034540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2034540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End 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59" y="2034540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Terminal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286000"/>
            <a:ext cx="5486400" cy="24688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286000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2286000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Greeting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59" y="2286000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Conversation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537460"/>
            <a:ext cx="548640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2537460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19" y="2537460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Rapport Buffer (N2)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59" y="2537460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Conversation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788920"/>
            <a:ext cx="5486400" cy="24688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2788920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19" y="2788920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Intent Detection (N3)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59" y="2788920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Conversation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040379"/>
            <a:ext cx="548640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3040379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19" y="3040379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Extract — Rapport Tone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9159" y="3040379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Extraction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3291839"/>
            <a:ext cx="5486400" cy="24688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3291839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19" y="3291839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Extract — Call Intent  ⟶ ROUTER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9159" y="3291839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Extraction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3543299"/>
            <a:ext cx="548640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3543299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8719" y="3543299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Empathy Listener (Global)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09159" y="3543299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Conversation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3794759"/>
            <a:ext cx="5486400" cy="24688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" y="3794759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8719" y="3794759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Extract — Empathy Flags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09159" y="3794759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Extraction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4046220"/>
            <a:ext cx="548640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4046220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88719" y="4046220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Profile Intake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09159" y="4046220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Conversation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4297680"/>
            <a:ext cx="5486400" cy="24688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" y="4297680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88719" y="4297680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Extract — Profile Attributes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09159" y="4297680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Extraction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4549140"/>
            <a:ext cx="548640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8368" y="4549140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11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88719" y="4549140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Eligibility Gate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09159" y="4549140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Conversation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" y="4800600"/>
            <a:ext cx="5486400" cy="24688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8368" y="4800600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12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88719" y="4800600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Extract — Eligibility &amp; State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09159" y="4800600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Extraction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5052060"/>
            <a:ext cx="548640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8368" y="5052060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13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88719" y="5052060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Needs Analysis Engine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09159" y="5052060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Conversation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8640" y="5303520"/>
            <a:ext cx="5486400" cy="24688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58368" y="5303520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14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88719" y="5303520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Extract — Recommendation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709159" y="5303520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Extraction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8640" y="5554980"/>
            <a:ext cx="548640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58368" y="5554980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15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88719" y="5554980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Policy Confirmation &amp; Bundle Router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709159" y="5554980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Conversation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48640" y="5806440"/>
            <a:ext cx="5486400" cy="24688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58368" y="5806440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16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88719" y="5806440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Extract — Selected Policy / Bundle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09159" y="5806440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Extraction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48640" y="6057900"/>
            <a:ext cx="548640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58368" y="6057900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17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88719" y="6057900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Phase 1 — Contact Information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709159" y="6057900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Conversation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355080" y="1417320"/>
            <a:ext cx="5486400" cy="292608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464808" y="1417320"/>
            <a:ext cx="3200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995160" y="1417320"/>
            <a:ext cx="3200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Node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515600" y="1417320"/>
            <a:ext cx="3200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Type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355080" y="1783080"/>
            <a:ext cx="5486400" cy="24688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464808" y="1783080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18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995160" y="1783080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Extract — Contact &amp; Business  ⟶ ROUTER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515600" y="1783080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Extraction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355080" y="2034540"/>
            <a:ext cx="548640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464808" y="2034540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19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995160" y="2034540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Workers' Compensation Intake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515600" y="2034540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Conversation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355080" y="2286000"/>
            <a:ext cx="5486400" cy="24688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464808" y="2286000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20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995160" y="2286000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Extract — Workers' Comp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515600" y="2286000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Extraction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55080" y="2537460"/>
            <a:ext cx="548640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464808" y="2537460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21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995160" y="2537460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General Liability Intake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515600" y="2537460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Conversation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355080" y="2788920"/>
            <a:ext cx="5486400" cy="24688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464808" y="2788920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22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995160" y="2788920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Extract — General Liability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515600" y="2788920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Extraction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355080" y="3040379"/>
            <a:ext cx="548640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464808" y="3040379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23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995160" y="3040379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Commercial Auto Intake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515600" y="3040379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Conversation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355080" y="3291839"/>
            <a:ext cx="5486400" cy="24688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464808" y="3291839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24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995160" y="3291839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Extract — Commercial Auto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515600" y="3291839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Extraction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355080" y="3543299"/>
            <a:ext cx="548640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464808" y="3543299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25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995160" y="3543299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Commercial Property Intake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515600" y="3543299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Conversation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355080" y="3794759"/>
            <a:ext cx="5486400" cy="24688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464808" y="3794759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26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995160" y="3794759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Extract — Commercial Property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515600" y="3794759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Extraction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355080" y="4046220"/>
            <a:ext cx="548640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464808" y="4046220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27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995160" y="4046220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Umbrella / Excess Liability Intake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515600" y="4046220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Conversation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355080" y="4297680"/>
            <a:ext cx="5486400" cy="24688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464808" y="4297680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28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995160" y="4297680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Extract — Umbrella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515600" y="4297680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Extraction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355080" y="4549140"/>
            <a:ext cx="548640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464808" y="4549140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29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995160" y="4549140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Business Owner's Policy (BOP) Intake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515600" y="4549140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Conversation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355080" y="4800600"/>
            <a:ext cx="5486400" cy="24688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464808" y="4800600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30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995160" y="4800600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Extract — BOP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0515600" y="4800600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Extraction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6355080" y="5052060"/>
            <a:ext cx="548640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464808" y="5052060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31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995160" y="5052060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Professional Liability Intake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515600" y="5052060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Conversation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355080" y="5303520"/>
            <a:ext cx="5486400" cy="24688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464808" y="5303520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32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995160" y="5303520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Extract — Professional Liability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0515600" y="5303520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Extraction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6355080" y="5554980"/>
            <a:ext cx="548640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464808" y="5554980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33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995160" y="5554980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Homeowners Intake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0515600" y="5554980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Conversation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6355080" y="5806440"/>
            <a:ext cx="5486400" cy="24688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464808" y="5806440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34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995160" y="5806440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Extract — Homeowners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515600" y="5806440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Extraction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6355080" y="6057900"/>
            <a:ext cx="548640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6464808" y="6057900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35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95160" y="6057900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Personal Auto Intake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0515600" y="6057900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Conversation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Appendix   ·   96/98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146304" cy="38404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20624"/>
            <a:ext cx="9509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2A4A"/>
                </a:solidFill>
                <a:latin typeface="Calibri"/>
              </a:rPr>
              <a:t>Appendix — node index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486400" cy="292608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3200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19" y="1417320"/>
            <a:ext cx="3200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Node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59" y="1417320"/>
            <a:ext cx="3200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5486400" cy="24688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783080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1783080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Extract — Personal Auto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59" y="1783080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Extraction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034540"/>
            <a:ext cx="548640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034540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37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2034540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Dwelling Fire Intake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59" y="2034540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Conversation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286000"/>
            <a:ext cx="5486400" cy="24688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286000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38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19" y="2286000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Extract — Dwelling Fire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59" y="2286000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Extraction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537460"/>
            <a:ext cx="548640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2537460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39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19" y="2537460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Farmowners Intake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59" y="2537460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Conversation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788920"/>
            <a:ext cx="5486400" cy="24688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2788920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19" y="2788920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Bundle Loop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59" y="2788920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Conversation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040379"/>
            <a:ext cx="548640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3040379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41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19" y="3040379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Extract — Farmowners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59" y="3040379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Extraction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291839"/>
            <a:ext cx="5486400" cy="24688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3291839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42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19" y="3291839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Extract — Bundle Router  ⟶ ROUTER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59" y="3291839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Extraction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543299"/>
            <a:ext cx="548640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3543299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43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19" y="3543299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Risk Scoring Engine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09159" y="3543299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Conversation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3794759"/>
            <a:ext cx="5486400" cy="24688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3794759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44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8719" y="3794759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Extract — Risk Level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09159" y="3794759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Extraction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4046220"/>
            <a:ext cx="548640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" y="4046220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45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88719" y="4046220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Quote Estimate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09159" y="4046220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Conversation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4297680"/>
            <a:ext cx="5486400" cy="24688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" y="4297680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46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88719" y="4297680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Extract — Quote Range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09159" y="4297680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Extraction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4549140"/>
            <a:ext cx="548640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8368" y="4549140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47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88719" y="4549140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Mid-Call Summary &amp; Validation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09159" y="4549140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Conversation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4800600"/>
            <a:ext cx="5486400" cy="24688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8368" y="4800600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48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88719" y="4800600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Extract — Validation  ⟶ ROUTER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09159" y="4800600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Extraction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" y="5052060"/>
            <a:ext cx="548640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8368" y="5052060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49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88719" y="5052060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Draft Policy Generation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09159" y="5052060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Conversation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8640" y="5303520"/>
            <a:ext cx="5486400" cy="24688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58368" y="5303520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50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88719" y="5303520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Send Email (bridge)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09159" y="5303520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Conversation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8640" y="5554980"/>
            <a:ext cx="548640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58368" y="5554980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51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88719" y="5554980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Extract — Draft Id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09159" y="5554980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Extraction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48640" y="5806440"/>
            <a:ext cx="5486400" cy="24688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58368" y="5806440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52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88719" y="5806440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Close Call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709159" y="5806440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Conversation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48640" y="6057900"/>
            <a:ext cx="548640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58368" y="6057900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53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88719" y="6057900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Update Flow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709159" y="6057900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Conversation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355080" y="1417320"/>
            <a:ext cx="5486400" cy="292608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464808" y="1417320"/>
            <a:ext cx="3200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995160" y="1417320"/>
            <a:ext cx="3200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Node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515600" y="1417320"/>
            <a:ext cx="3200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Type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355080" y="1783080"/>
            <a:ext cx="5486400" cy="24688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464808" y="1783080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54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995160" y="1783080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Extract — Change Request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515600" y="1783080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Extraction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355080" y="2034540"/>
            <a:ext cx="548640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464808" y="2034540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55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995160" y="2034540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Agent / Underwriter Support Mode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515600" y="2034540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Conversation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355080" y="2286000"/>
            <a:ext cx="5486400" cy="24688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464808" y="2286000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56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995160" y="2286000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Extract — Questions  ⟶ ROUTER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515600" y="2286000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Extraction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355080" y="2537460"/>
            <a:ext cx="548640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464808" y="2537460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57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995160" y="2537460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Escalation &amp; Callback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515600" y="2537460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Conversation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355080" y="2788920"/>
            <a:ext cx="5486400" cy="24688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464808" y="2788920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58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995160" y="2788920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Extract — Callback Details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515600" y="2788920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Extraction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55080" y="3040379"/>
            <a:ext cx="548640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464808" y="3040379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59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995160" y="3040379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Casual Chat Handler (Global)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515600" y="3040379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Conversation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355080" y="3291839"/>
            <a:ext cx="5486400" cy="24688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464808" y="3291839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60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995160" y="3291839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Extract — Casual Chat Count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515600" y="3291839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Extraction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355080" y="3543299"/>
            <a:ext cx="548640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464808" y="3543299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61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995160" y="3543299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N3a Customer Authentication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515600" y="3543299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Conversation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355080" y="3794759"/>
            <a:ext cx="5486400" cy="24688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464808" y="3794759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62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995160" y="3794759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Extract — Auth Result  ⟶ ROUTER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515600" y="3794759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Extraction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355080" y="4046220"/>
            <a:ext cx="548640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464808" y="4046220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63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995160" y="4046220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N27a Policy Lookup Mode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515600" y="4046220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Conversation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355080" y="4297680"/>
            <a:ext cx="5486400" cy="24688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464808" y="4297680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64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995160" y="4297680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Extract — Lookup  ⟶ ROUTER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515600" y="4297680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Extraction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6355080" y="4549140"/>
            <a:ext cx="548640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464808" y="4549140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65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995160" y="4549140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fn · Send New Quote Event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515600" y="4549140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Function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355080" y="4800600"/>
            <a:ext cx="5486400" cy="24688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464808" y="4800600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66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995160" y="4800600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fn · Send Policy Update Event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0515600" y="4800600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Function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6355080" y="5052060"/>
            <a:ext cx="548640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6464808" y="5052060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67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995160" y="5052060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fn · Send Agent Inquiry Event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515600" y="5052060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Function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355080" y="5303520"/>
            <a:ext cx="5486400" cy="24688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464808" y="5303520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68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95160" y="5303520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fn · Send Expired Pivot Event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0515600" y="5303520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Function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355080" y="5554980"/>
            <a:ext cx="548640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464808" y="5554980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69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995160" y="5554980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fn · Send Customer Lookup Event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0515600" y="5554980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Function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6355080" y="5806440"/>
            <a:ext cx="5486400" cy="24688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6464808" y="5806440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70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6995160" y="5806440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fn · Send Callback Request Event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0515600" y="5806440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Function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6355080" y="6057900"/>
            <a:ext cx="548640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6464808" y="6057900"/>
            <a:ext cx="502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Calibri"/>
              </a:rPr>
              <a:t>71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995160" y="6057900"/>
            <a:ext cx="34747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A"/>
                </a:solidFill>
                <a:latin typeface="Calibri"/>
              </a:rPr>
              <a:t>fn · Send High Risk Event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0515600" y="6057900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303F"/>
                </a:solidFill>
                <a:latin typeface="Calibri"/>
              </a:rPr>
              <a:t>Function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A"/>
                </a:solidFill>
                <a:latin typeface="Calibri"/>
              </a:rPr>
              <a:t>NALASHAA</a:t>
            </a:r>
            <a:r>
              <a:rPr sz="800" b="0" i="0">
                <a:solidFill>
                  <a:srgbClr val="8A99A6"/>
                </a:solidFill>
                <a:latin typeface="Calibri"/>
              </a:rPr>
              <a:t>   |   INSURA · WMIC Voice Agent Pro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7498079" y="6510528"/>
            <a:ext cx="4142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Calibri"/>
              </a:rPr>
              <a:t>Confidential   ·   Appendix   ·   97/98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286000"/>
            <a:ext cx="457200" cy="4572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Built for Wisconsin Mutual.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033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6D2DE"/>
                </a:solidFill>
                <a:latin typeface="Calibri"/>
              </a:rPr>
              <a:t>A production-grade voice agent — 72 nodes, 12 lines of business, designed-in trust.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NALASHAA</a:t>
            </a:r>
            <a:r>
              <a:rPr sz="1200" b="0" i="0">
                <a:solidFill>
                  <a:srgbClr val="8A99A6"/>
                </a:solidFill>
                <a:latin typeface="Calibri"/>
              </a:rPr>
              <a:t>   ·   Delivery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